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1" d="100"/>
          <a:sy n="141" d="100"/>
        </p:scale>
        <p:origin x="66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73702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6EF5"/>
          </a:solidFill>
          <a:ln w="12700">
            <a:solidFill>
              <a:srgbClr val="1A6E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347472"/>
            <a:ext cx="164592" cy="164592"/>
          </a:xfrm>
          <a:prstGeom prst="ellipse">
            <a:avLst/>
          </a:prstGeom>
          <a:solidFill>
            <a:srgbClr val="1A9E3A"/>
          </a:solidFill>
          <a:ln w="12700">
            <a:solidFill>
              <a:srgbClr val="1A9E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95528" y="30175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SprayLine 生產監控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1051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</a:rPr>
              <a:t>元件資料流程說明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371600" y="173736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BA3C8"/>
                </a:solidFill>
              </a:rPr>
              <a:t>Component Data Workflow Documentation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0" y="2176272"/>
            <a:ext cx="2743200" cy="27432"/>
          </a:xfrm>
          <a:prstGeom prst="rect">
            <a:avLst/>
          </a:prstGeom>
          <a:solidFill>
            <a:srgbClr val="1A6EF5"/>
          </a:solidFill>
          <a:ln w="12700">
            <a:solidFill>
              <a:srgbClr val="1A6E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23317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8B8D8"/>
                </a:solidFill>
              </a:rPr>
              <a:t>每個 UI 元件從後端資料庫 → Service Layer → REST API → 前端渲染的完整流程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188720" y="2907792"/>
            <a:ext cx="1371600" cy="822960"/>
          </a:xfrm>
          <a:prstGeom prst="rect">
            <a:avLst/>
          </a:prstGeom>
          <a:solidFill>
            <a:srgbClr val="243560"/>
          </a:solidFill>
          <a:ln w="12700">
            <a:solidFill>
              <a:srgbClr val="3D508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188720" y="294436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6EF5"/>
                </a:solidFill>
              </a:rPr>
              <a:t>22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188720" y="333756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A3C8"/>
                </a:solidFill>
              </a:rPr>
              <a:t>張資料表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017520" y="2907792"/>
            <a:ext cx="1371600" cy="822960"/>
          </a:xfrm>
          <a:prstGeom prst="rect">
            <a:avLst/>
          </a:prstGeom>
          <a:solidFill>
            <a:srgbClr val="243560"/>
          </a:solidFill>
          <a:ln w="12700">
            <a:solidFill>
              <a:srgbClr val="3D508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017520" y="294436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6EF5"/>
                </a:solidFill>
              </a:rPr>
              <a:t>17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017520" y="333756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A3C8"/>
                </a:solidFill>
              </a:rPr>
              <a:t>個 Service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8BA3C8"/>
                </a:solidFill>
              </a:rPr>
              <a:t>Function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846320" y="2907792"/>
            <a:ext cx="1371600" cy="822960"/>
          </a:xfrm>
          <a:prstGeom prst="rect">
            <a:avLst/>
          </a:prstGeom>
          <a:solidFill>
            <a:srgbClr val="243560"/>
          </a:solidFill>
          <a:ln w="12700">
            <a:solidFill>
              <a:srgbClr val="3D508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46320" y="294436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6EF5"/>
                </a:solidFill>
              </a:rPr>
              <a:t>2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846320" y="333756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A3C8"/>
                </a:solidFill>
              </a:rPr>
              <a:t>個 Tab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675120" y="2907792"/>
            <a:ext cx="1371600" cy="822960"/>
          </a:xfrm>
          <a:prstGeom prst="rect">
            <a:avLst/>
          </a:prstGeom>
          <a:solidFill>
            <a:srgbClr val="243560"/>
          </a:solidFill>
          <a:ln w="12700">
            <a:solidFill>
              <a:srgbClr val="3D508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675120" y="294436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6EF5"/>
                </a:solidFill>
              </a:rPr>
              <a:t>4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675120" y="333756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A3C8"/>
                </a:solidFill>
              </a:rPr>
              <a:t>個 Drawer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828800" y="3931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7099"/>
                </a:solidFill>
              </a:rPr>
              <a:t>對應 Dashboard v15 ／ DB Schema v2 ／ ER Model v2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D1A30"/>
          </a:solidFill>
          <a:ln w="12700">
            <a:solidFill>
              <a:srgbClr val="0D1A3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96519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A6080"/>
                </a:solidFill>
              </a:rPr>
              <a:t>DB: PostgreSQL 16 + TimescaleDB 2.x    API: FastAPI /api/v1/    Cache: Redis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030"/>
                </a:solidFill>
              </a:rPr>
              <a:t>整體資料流架構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5760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478"/>
                </a:solidFill>
              </a:rPr>
              <a:t>每個 UI 元件都走相同的四層流程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011680" cy="228600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0515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🗄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14630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DB Layer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1764792"/>
            <a:ext cx="1737360" cy="18288"/>
          </a:xfrm>
          <a:prstGeom prst="rect">
            <a:avLst/>
          </a:prstGeom>
          <a:solidFill>
            <a:srgbClr val="C8D0E0"/>
          </a:solidFill>
          <a:ln w="12700">
            <a:solidFill>
              <a:srgbClr val="C8D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810512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8D8F8"/>
                </a:solidFill>
              </a:rPr>
              <a:t>PostgreSQL 16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8D8F8"/>
                </a:solidFill>
              </a:rPr>
              <a:t>+TimescaleDB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8D8F8"/>
                </a:solidFill>
              </a:rPr>
              <a:t>22 張表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286000" y="2084832"/>
            <a:ext cx="201168" cy="0"/>
          </a:xfrm>
          <a:prstGeom prst="line">
            <a:avLst/>
          </a:prstGeom>
          <a:noFill/>
          <a:ln w="19050">
            <a:solidFill>
              <a:srgbClr val="9BA3B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77440" y="2011680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8"/>
                </a:solidFill>
              </a:rPr>
              <a:t>▶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487168" y="960120"/>
            <a:ext cx="2011680" cy="2286000"/>
          </a:xfrm>
          <a:prstGeom prst="rect">
            <a:avLst/>
          </a:prstGeom>
          <a:solidFill>
            <a:srgbClr val="1C5F8A"/>
          </a:solidFill>
          <a:ln w="12700">
            <a:solidFill>
              <a:srgbClr val="1C5F8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487168" y="10515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487168" y="14630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Service Layer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624328" y="1764792"/>
            <a:ext cx="1737360" cy="18288"/>
          </a:xfrm>
          <a:prstGeom prst="rect">
            <a:avLst/>
          </a:prstGeom>
          <a:solidFill>
            <a:srgbClr val="C8D0E0"/>
          </a:solidFill>
          <a:ln w="12700">
            <a:solidFill>
              <a:srgbClr val="C8D0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78608" y="1810512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8D8F8"/>
                </a:solidFill>
              </a:rPr>
              <a:t>17 個 Function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8D8F8"/>
                </a:solidFill>
              </a:rPr>
              <a:t>(Past/Current/Future)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8D8F8"/>
                </a:solidFill>
              </a:rPr>
              <a:t>idempotent writers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498848" y="2084832"/>
            <a:ext cx="201168" cy="0"/>
          </a:xfrm>
          <a:prstGeom prst="line">
            <a:avLst/>
          </a:prstGeom>
          <a:noFill/>
          <a:ln w="19050">
            <a:solidFill>
              <a:srgbClr val="9BA3B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90288" y="2011680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8"/>
                </a:solidFill>
              </a:rPr>
              <a:t>▶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00016" y="960120"/>
            <a:ext cx="2011680" cy="2286000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00016" y="10515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700016" y="14630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API Gateway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37176" y="1764792"/>
            <a:ext cx="1737360" cy="18288"/>
          </a:xfrm>
          <a:prstGeom prst="rect">
            <a:avLst/>
          </a:prstGeom>
          <a:solidFill>
            <a:srgbClr val="C8D0E0"/>
          </a:solidFill>
          <a:ln w="12700">
            <a:solidFill>
              <a:srgbClr val="C8D0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91456" y="1810512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8D8F8"/>
                </a:solidFill>
              </a:rPr>
              <a:t>FastAPI /api/v1/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8D8F8"/>
                </a:solidFill>
              </a:rPr>
              <a:t>JWT 認證 / Rate-limit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8D8F8"/>
                </a:solidFill>
              </a:rPr>
              <a:t>Redis Cache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711696" y="2084832"/>
            <a:ext cx="201168" cy="0"/>
          </a:xfrm>
          <a:prstGeom prst="line">
            <a:avLst/>
          </a:prstGeom>
          <a:noFill/>
          <a:ln w="19050">
            <a:solidFill>
              <a:srgbClr val="9BA3B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03136" y="2011680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8"/>
                </a:solidFill>
              </a:rPr>
              <a:t>▶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912864" y="960120"/>
            <a:ext cx="2011680" cy="2286000"/>
          </a:xfrm>
          <a:prstGeom prst="rect">
            <a:avLst/>
          </a:prstGeom>
          <a:solidFill>
            <a:srgbClr val="2D6B2A"/>
          </a:solidFill>
          <a:ln w="12700">
            <a:solidFill>
              <a:srgbClr val="2D6B2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12864" y="10515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🖥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912864" y="14630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Frontend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050024" y="1764792"/>
            <a:ext cx="1737360" cy="18288"/>
          </a:xfrm>
          <a:prstGeom prst="rect">
            <a:avLst/>
          </a:prstGeom>
          <a:solidFill>
            <a:srgbClr val="C8D0E0"/>
          </a:solidFill>
          <a:ln w="12700">
            <a:solidFill>
              <a:srgbClr val="C8D0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04304" y="1810512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8D8F8"/>
                </a:solidFill>
              </a:rPr>
              <a:t>Chart.js 圖表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8D8F8"/>
                </a:solidFill>
              </a:rPr>
              <a:t>RWD HTML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8D8F8"/>
                </a:solidFill>
              </a:rPr>
              <a:t>CSS Variable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74320" y="3429000"/>
            <a:ext cx="859536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57200" y="34930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030"/>
                </a:solidFill>
              </a:rPr>
              <a:t>典型請求回路（以 KPI 卡為例）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38912" y="3767328"/>
            <a:ext cx="1298448" cy="914400"/>
          </a:xfrm>
          <a:prstGeom prst="rect">
            <a:avLst/>
          </a:prstGeom>
          <a:solidFill>
            <a:srgbClr val="EEF4FF"/>
          </a:solidFill>
          <a:ln w="12700">
            <a:solidFill>
              <a:srgbClr val="C8D8F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" y="3803904"/>
            <a:ext cx="122529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2030"/>
                </a:solidFill>
              </a:rPr>
              <a:t>① UI polling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1A2030"/>
                </a:solidFill>
              </a:rPr>
              <a:t>GET /api/v1/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1A2030"/>
                </a:solidFill>
              </a:rPr>
              <a:t>lines/{id}/kpi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1755648" y="4160520"/>
            <a:ext cx="109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8"/>
                </a:solidFill>
              </a:rPr>
              <a:t>→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1847088" y="3767328"/>
            <a:ext cx="1298448" cy="914400"/>
          </a:xfrm>
          <a:prstGeom prst="rect">
            <a:avLst/>
          </a:prstGeom>
          <a:solidFill>
            <a:srgbClr val="EEF4FF"/>
          </a:solidFill>
          <a:ln w="12700">
            <a:solidFill>
              <a:srgbClr val="C8D8F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883664" y="3803904"/>
            <a:ext cx="122529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2030"/>
                </a:solidFill>
              </a:rPr>
              <a:t>② FastAPI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1A2030"/>
                </a:solidFill>
              </a:rPr>
              <a:t>驗證參數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1A2030"/>
                </a:solidFill>
              </a:rPr>
              <a:t>查 Redis cache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3163824" y="4160520"/>
            <a:ext cx="109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8"/>
                </a:solidFill>
              </a:rPr>
              <a:t>→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255264" y="3767328"/>
            <a:ext cx="1298448" cy="914400"/>
          </a:xfrm>
          <a:prstGeom prst="rect">
            <a:avLst/>
          </a:prstGeom>
          <a:solidFill>
            <a:srgbClr val="EEF4FF"/>
          </a:solidFill>
          <a:ln w="12700">
            <a:solidFill>
              <a:srgbClr val="C8D8F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91840" y="3803904"/>
            <a:ext cx="122529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2030"/>
                </a:solidFill>
              </a:rPr>
              <a:t>③ Cache miss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1A2030"/>
                </a:solidFill>
              </a:rPr>
              <a:t>→ 呼叫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1A2030"/>
                </a:solidFill>
              </a:rPr>
              <a:t>get_kpi_summary()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4572000" y="4160520"/>
            <a:ext cx="109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8"/>
                </a:solidFill>
              </a:rPr>
              <a:t>→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663440" y="3767328"/>
            <a:ext cx="1298448" cy="914400"/>
          </a:xfrm>
          <a:prstGeom prst="rect">
            <a:avLst/>
          </a:prstGeom>
          <a:solidFill>
            <a:srgbClr val="EEF4FF"/>
          </a:solidFill>
          <a:ln w="12700">
            <a:solidFill>
              <a:srgbClr val="C8D8F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00016" y="3803904"/>
            <a:ext cx="122529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2030"/>
                </a:solidFill>
              </a:rPr>
              <a:t>④ JOIN qc_result +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1A2030"/>
                </a:solidFill>
              </a:rPr>
              <a:t>runtime_metric +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1A2030"/>
                </a:solidFill>
              </a:rPr>
              <a:t>part_history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5980176" y="4160520"/>
            <a:ext cx="109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8"/>
                </a:solidFill>
              </a:rPr>
              <a:t>→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071616" y="3767328"/>
            <a:ext cx="1298448" cy="914400"/>
          </a:xfrm>
          <a:prstGeom prst="rect">
            <a:avLst/>
          </a:prstGeom>
          <a:solidFill>
            <a:srgbClr val="EEF4FF"/>
          </a:solidFill>
          <a:ln w="12700">
            <a:solidFill>
              <a:srgbClr val="C8D8F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108192" y="3803904"/>
            <a:ext cx="122529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2030"/>
                </a:solidFill>
              </a:rPr>
              <a:t>⑤ 回傳 JSON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1A2030"/>
                </a:solidFill>
              </a:rPr>
              <a:t>寫 Redis TTL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1A2030"/>
                </a:solidFill>
              </a:rPr>
              <a:t>= 30–120 秒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7388352" y="4160520"/>
            <a:ext cx="109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8"/>
                </a:solidFill>
              </a:rPr>
              <a:t>→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7479792" y="3767328"/>
            <a:ext cx="1298448" cy="914400"/>
          </a:xfrm>
          <a:prstGeom prst="rect">
            <a:avLst/>
          </a:prstGeom>
          <a:solidFill>
            <a:srgbClr val="EEF4FF"/>
          </a:solidFill>
          <a:ln w="12700">
            <a:solidFill>
              <a:srgbClr val="C8D8F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516368" y="3803904"/>
            <a:ext cx="122529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2030"/>
                </a:solidFill>
              </a:rPr>
              <a:t>⑥ Chart.js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1A2030"/>
                </a:solidFill>
              </a:rPr>
              <a:t>渲染 KPI 卡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1A2030"/>
                </a:solidFill>
              </a:rPr>
              <a:t>顯示 delta ▲▼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📡 即時監控 Tab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371600" y="26974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8B8D8"/>
                </a:solidFill>
              </a:rPr>
              <a:t>工程師視角：即時感測資料 → 站點狀態 → 元件診斷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030"/>
                </a:solidFill>
              </a:rPr>
              <a:t>① 站點摘要卡（4 張）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365760" y="53035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6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get_station_dashboard_status(line_id)  →  GET /api/v1/lines/{id}/summary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320040" y="841248"/>
            <a:ext cx="1993392" cy="987552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41248"/>
            <a:ext cx="1993392" cy="36576"/>
          </a:xfrm>
          <a:prstGeom prst="rect">
            <a:avLst/>
          </a:prstGeom>
          <a:solidFill>
            <a:srgbClr val="1A6EF5"/>
          </a:solidFill>
          <a:ln w="12700">
            <a:solidFill>
              <a:srgbClr val="1A6E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60120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6EF5"/>
                </a:solidFill>
              </a:rPr>
              <a:t>3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20040" y="1435608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478"/>
                </a:solidFill>
              </a:rPr>
              <a:t>總站數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83464" y="804672"/>
            <a:ext cx="2066544" cy="1060704"/>
          </a:xfrm>
          <a:prstGeom prst="rect">
            <a:avLst/>
          </a:prstGeom>
          <a:ln w="19050">
            <a:solidFill>
              <a:srgbClr val="1A6E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478024" y="841248"/>
            <a:ext cx="1993392" cy="987552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78024" y="841248"/>
            <a:ext cx="1993392" cy="36576"/>
          </a:xfrm>
          <a:prstGeom prst="rect">
            <a:avLst/>
          </a:prstGeom>
          <a:solidFill>
            <a:srgbClr val="1A9E3A"/>
          </a:solidFill>
          <a:ln w="12700">
            <a:solidFill>
              <a:srgbClr val="1A9E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78024" y="960120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9E3A"/>
                </a:solidFill>
              </a:rPr>
              <a:t>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478024" y="1435608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478"/>
                </a:solidFill>
              </a:rPr>
              <a:t>正常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441448" y="804672"/>
            <a:ext cx="2066544" cy="1060704"/>
          </a:xfrm>
          <a:prstGeom prst="rect">
            <a:avLst/>
          </a:prstGeom>
          <a:ln w="19050">
            <a:solidFill>
              <a:srgbClr val="1A6E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36008" y="841248"/>
            <a:ext cx="1993392" cy="987552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36008" y="841248"/>
            <a:ext cx="1993392" cy="3657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36008" y="960120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B8860B"/>
                </a:solidFill>
              </a:rPr>
              <a:t>1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636008" y="1435608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478"/>
                </a:solidFill>
              </a:rPr>
              <a:t>警示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99432" y="804672"/>
            <a:ext cx="2066544" cy="1060704"/>
          </a:xfrm>
          <a:prstGeom prst="rect">
            <a:avLst/>
          </a:prstGeom>
          <a:ln w="19050">
            <a:solidFill>
              <a:srgbClr val="1A6E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793992" y="841248"/>
            <a:ext cx="1993392" cy="987552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793992" y="841248"/>
            <a:ext cx="1993392" cy="36576"/>
          </a:xfrm>
          <a:prstGeom prst="rect">
            <a:avLst/>
          </a:prstGeom>
          <a:solidFill>
            <a:srgbClr val="D42B22"/>
          </a:solidFill>
          <a:ln w="12700">
            <a:solidFill>
              <a:srgbClr val="D42B2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93992" y="960120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42B22"/>
                </a:solidFill>
              </a:rPr>
              <a:t>1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793992" y="1435608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478"/>
                </a:solidFill>
              </a:rPr>
              <a:t>預測風險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757416" y="804672"/>
            <a:ext cx="2066544" cy="1060704"/>
          </a:xfrm>
          <a:prstGeom prst="rect">
            <a:avLst/>
          </a:prstGeom>
          <a:ln w="19050">
            <a:solidFill>
              <a:srgbClr val="1A6EF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" y="2029968"/>
            <a:ext cx="182880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2029968"/>
            <a:ext cx="54864" cy="96012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02336" y="208483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2B4A"/>
                </a:solidFill>
              </a:rPr>
              <a:t>1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30936" y="2075688"/>
            <a:ext cx="1444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030"/>
                </a:solidFill>
              </a:rPr>
              <a:t>DB 查詢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02336" y="2313432"/>
            <a:ext cx="1673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A6478"/>
                </a:solidFill>
              </a:rPr>
              <a:t>SELECT COUNT(*) FROM component_health_snapshot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5A6478"/>
                </a:solidFill>
              </a:rPr>
              <a:t>GROUP BY health_status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5A6478"/>
                </a:solidFill>
              </a:rPr>
              <a:t>LATERAL JOIN 最新快照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2331720" y="2029968"/>
            <a:ext cx="201168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331720" y="2029968"/>
            <a:ext cx="54864" cy="960120"/>
          </a:xfrm>
          <a:prstGeom prst="rect">
            <a:avLst/>
          </a:prstGeom>
          <a:solidFill>
            <a:srgbClr val="1A6EF5"/>
          </a:solidFill>
          <a:ln w="12700">
            <a:solidFill>
              <a:srgbClr val="1A6EF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414016" y="208483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6EF5"/>
                </a:solidFill>
              </a:rPr>
              <a:t>2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642616" y="2075688"/>
            <a:ext cx="1627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030"/>
                </a:solidFill>
              </a:rPr>
              <a:t>Service Function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414016" y="2313432"/>
            <a:ext cx="18562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A6478"/>
                </a:solidFill>
              </a:rPr>
              <a:t>get_station_dashboard_status(line_id)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5A6478"/>
                </a:solidFill>
              </a:rPr>
              <a:t>→ {total, normal, warning,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5A6478"/>
                </a:solidFill>
              </a:rPr>
              <a:t>predict_risk, timestamp}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4526280" y="2029968"/>
            <a:ext cx="201168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526280" y="2029968"/>
            <a:ext cx="54864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08576" y="208483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</a:rPr>
              <a:t>3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837176" y="2075688"/>
            <a:ext cx="1627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030"/>
                </a:solidFill>
              </a:rPr>
              <a:t>API Response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608576" y="2313432"/>
            <a:ext cx="18562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A6478"/>
                </a:solidFill>
              </a:rPr>
              <a:t>GET /api/v1/lines/{id}/summary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5A6478"/>
                </a:solidFill>
              </a:rPr>
              <a:t>200 OK JSON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5A6478"/>
                </a:solidFill>
              </a:rPr>
              <a:t>cache_ttl_s: 30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6720840" y="2029968"/>
            <a:ext cx="210312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720840" y="2029968"/>
            <a:ext cx="54864" cy="960120"/>
          </a:xfrm>
          <a:prstGeom prst="rect">
            <a:avLst/>
          </a:prstGeom>
          <a:solidFill>
            <a:srgbClr val="1A9E3A"/>
          </a:solidFill>
          <a:ln w="12700">
            <a:solidFill>
              <a:srgbClr val="1A9E3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03136" y="208483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9E3A"/>
                </a:solidFill>
              </a:rPr>
              <a:t>4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031736" y="2075688"/>
            <a:ext cx="1719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030"/>
                </a:solidFill>
              </a:rPr>
              <a:t>前端渲染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803136" y="2313432"/>
            <a:ext cx="19476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A6478"/>
                </a:solidFill>
              </a:rPr>
              <a:t>refreshAndRender()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5A6478"/>
                </a:solidFill>
              </a:rPr>
              <a:t>→ updateEngineerSummary()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5A6478"/>
                </a:solidFill>
              </a:rPr>
              <a:t>→ sum-val 數字更新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2167128" y="2505456"/>
            <a:ext cx="164592" cy="0"/>
          </a:xfrm>
          <a:prstGeom prst="line">
            <a:avLst/>
          </a:prstGeom>
          <a:noFill/>
          <a:ln w="12700">
            <a:solidFill>
              <a:srgbClr val="5A647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203704" y="2432304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8"/>
                </a:solidFill>
              </a:rPr>
              <a:t>▶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361688" y="2505456"/>
            <a:ext cx="164592" cy="0"/>
          </a:xfrm>
          <a:prstGeom prst="line">
            <a:avLst/>
          </a:prstGeom>
          <a:noFill/>
          <a:ln w="12700">
            <a:solidFill>
              <a:srgbClr val="5A647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398264" y="2432304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8"/>
                </a:solidFill>
              </a:rPr>
              <a:t>▶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556248" y="2505456"/>
            <a:ext cx="164592" cy="0"/>
          </a:xfrm>
          <a:prstGeom prst="line">
            <a:avLst/>
          </a:prstGeom>
          <a:noFill/>
          <a:ln w="12700">
            <a:solidFill>
              <a:srgbClr val="5A647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592824" y="2432304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8"/>
                </a:solidFill>
              </a:rPr>
              <a:t>▶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320040" y="3127248"/>
            <a:ext cx="8503920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502920" y="320040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030"/>
                </a:solidFill>
              </a:rPr>
              <a:t>DB 關聯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11480" y="3474720"/>
            <a:ext cx="2633472" cy="1316736"/>
          </a:xfrm>
          <a:prstGeom prst="rect">
            <a:avLst/>
          </a:prstGeom>
          <a:solidFill>
            <a:srgbClr val="F0F4FF"/>
          </a:solidFill>
          <a:ln w="12700">
            <a:solidFill>
              <a:srgbClr val="C8D8F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11480" y="3474720"/>
            <a:ext cx="2633472" cy="237744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84632" y="3493008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production_line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484632" y="3767328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欄位：line_id, name, status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484632" y="3995928"/>
            <a:ext cx="248716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478"/>
                </a:solidFill>
              </a:rPr>
              <a:t>Zone 1 — 取得線路資訊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3227832" y="3474720"/>
            <a:ext cx="2633472" cy="1316736"/>
          </a:xfrm>
          <a:prstGeom prst="rect">
            <a:avLst/>
          </a:prstGeom>
          <a:solidFill>
            <a:srgbClr val="F0F4FF"/>
          </a:solidFill>
          <a:ln w="12700">
            <a:solidFill>
              <a:srgbClr val="C8D8F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227832" y="3474720"/>
            <a:ext cx="2633472" cy="237744"/>
          </a:xfrm>
          <a:prstGeom prst="rect">
            <a:avLst/>
          </a:prstGeom>
          <a:solidFill>
            <a:srgbClr val="1C5F8A"/>
          </a:solidFill>
          <a:ln w="12700">
            <a:solidFill>
              <a:srgbClr val="1C5F8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300984" y="3493008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component_master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3300984" y="3767328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欄位：component_type, line_id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3300984" y="3995928"/>
            <a:ext cx="248716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478"/>
                </a:solidFill>
              </a:rPr>
              <a:t>Zone 1 — 元件定義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6044184" y="3474720"/>
            <a:ext cx="2633472" cy="1316736"/>
          </a:xfrm>
          <a:prstGeom prst="rect">
            <a:avLst/>
          </a:prstGeom>
          <a:solidFill>
            <a:srgbClr val="F0F4FF"/>
          </a:solidFill>
          <a:ln w="12700">
            <a:solidFill>
              <a:srgbClr val="C8D8F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044184" y="3474720"/>
            <a:ext cx="2633472" cy="237744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117336" y="3493008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component_health_snapshot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6117336" y="3767328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欄位：health_status, snapshot_time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6117336" y="3995928"/>
            <a:ext cx="248716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478"/>
                </a:solidFill>
              </a:rPr>
              <a:t>Zone 2 — 最新健康快照（LATERAL）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030"/>
                </a:solidFill>
              </a:rPr>
              <a:t>② 站點卡片 — 6 元件健康面板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365760" y="512064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6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get_latest_runtime_window(line_id)  →  GET /api/v1/lines/{id}/stations/latest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3566160" cy="1901952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04672"/>
            <a:ext cx="3566160" cy="54864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7782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030"/>
                </a:solidFill>
              </a:rPr>
              <a:t>面漆站  Topcoat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0" y="886968"/>
            <a:ext cx="822960" cy="201168"/>
          </a:xfrm>
          <a:prstGeom prst="roundRect">
            <a:avLst>
              <a:gd name="adj" fmla="val 22727"/>
            </a:avLst>
          </a:prstGeom>
          <a:solidFill>
            <a:srgbClr val="B8860B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0" y="88696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警報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438912" y="1207008"/>
            <a:ext cx="1078992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1A9E3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8912" y="1207008"/>
            <a:ext cx="1078992" cy="27432"/>
          </a:xfrm>
          <a:prstGeom prst="rect">
            <a:avLst/>
          </a:prstGeom>
          <a:solidFill>
            <a:srgbClr val="1A9E3A"/>
          </a:solidFill>
          <a:ln w="12700">
            <a:solidFill>
              <a:srgbClr val="1A9E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126187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A2030"/>
                </a:solidFill>
              </a:rPr>
              <a:t>機械手臂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475488" y="1426464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A9E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可用度 86%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1591056" y="1207008"/>
            <a:ext cx="1078992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B8860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591056" y="1207008"/>
            <a:ext cx="1078992" cy="27432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27632" y="126187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A2030"/>
                </a:solidFill>
              </a:rPr>
              <a:t>噴嘴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1627632" y="1426464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886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堵塞率 42%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2743200" y="1207008"/>
            <a:ext cx="1078992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42B2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0" y="1207008"/>
            <a:ext cx="1078992" cy="27432"/>
          </a:xfrm>
          <a:prstGeom prst="rect">
            <a:avLst/>
          </a:prstGeom>
          <a:solidFill>
            <a:srgbClr val="D42B22"/>
          </a:solidFill>
          <a:ln w="12700">
            <a:solidFill>
              <a:srgbClr val="D42B2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79776" y="126187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A2030"/>
                </a:solidFill>
              </a:rPr>
              <a:t>空壓機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2779776" y="1426464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D42B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壓力 1.8 bar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438912" y="1719072"/>
            <a:ext cx="1078992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42B2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38912" y="1719072"/>
            <a:ext cx="1078992" cy="27432"/>
          </a:xfrm>
          <a:prstGeom prst="rect">
            <a:avLst/>
          </a:prstGeom>
          <a:solidFill>
            <a:srgbClr val="D42B22"/>
          </a:solidFill>
          <a:ln w="12700">
            <a:solidFill>
              <a:srgbClr val="D42B2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" y="1773936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A2030"/>
                </a:solidFill>
              </a:rPr>
              <a:t>噴幅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475488" y="193852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D42B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噴幅 98 mm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1591056" y="1719072"/>
            <a:ext cx="1078992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1A9E3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591056" y="1719072"/>
            <a:ext cx="1078992" cy="27432"/>
          </a:xfrm>
          <a:prstGeom prst="rect">
            <a:avLst/>
          </a:prstGeom>
          <a:solidFill>
            <a:srgbClr val="1A9E3A"/>
          </a:solidFill>
          <a:ln w="12700">
            <a:solidFill>
              <a:srgbClr val="1A9E3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627632" y="1773936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A2030"/>
                </a:solidFill>
              </a:rPr>
              <a:t>濾網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1627632" y="193852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A9E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維護性 91%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2743200" y="1719072"/>
            <a:ext cx="1078992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B8860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0" y="1719072"/>
            <a:ext cx="1078992" cy="27432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79776" y="1773936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A2030"/>
                </a:solidFill>
              </a:rPr>
              <a:t>品質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2779776" y="193852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886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穩定度 82%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283464" y="768096"/>
            <a:ext cx="3639312" cy="1975104"/>
          </a:xfrm>
          <a:prstGeom prst="rect">
            <a:avLst/>
          </a:prstGeom>
          <a:ln w="22860">
            <a:solidFill>
              <a:srgbClr val="1A6EF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069080" y="822960"/>
            <a:ext cx="475488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069080" y="822960"/>
            <a:ext cx="54864" cy="59436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51376" y="87782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2B4A"/>
                </a:solidFill>
              </a:rPr>
              <a:t>1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379976" y="868680"/>
            <a:ext cx="4370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030"/>
                </a:solidFill>
              </a:rPr>
              <a:t>runtime_window 查詢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151376" y="1106424"/>
            <a:ext cx="4599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A6478"/>
                </a:solidFill>
              </a:rPr>
              <a:t>WHERE line_id=$1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5A6478"/>
                </a:solidFill>
              </a:rPr>
              <a:t>ORDER BY start_time DESC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5A6478"/>
                </a:solidFill>
              </a:rPr>
              <a:t>LIMIT 1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6217920" y="1417320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478"/>
                </a:solidFill>
              </a:rPr>
              <a:t>▼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069080" y="1499616"/>
            <a:ext cx="475488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069080" y="1499616"/>
            <a:ext cx="54864" cy="594360"/>
          </a:xfrm>
          <a:prstGeom prst="rect">
            <a:avLst/>
          </a:prstGeom>
          <a:solidFill>
            <a:srgbClr val="1C5F8A"/>
          </a:solidFill>
          <a:ln w="12700">
            <a:solidFill>
              <a:srgbClr val="1C5F8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151376" y="155448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5F8A"/>
                </a:solidFill>
              </a:rPr>
              <a:t>2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379976" y="1545336"/>
            <a:ext cx="4370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030"/>
                </a:solidFill>
              </a:rPr>
              <a:t>5 張子表 JOIN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151376" y="1783080"/>
            <a:ext cx="4599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A6478"/>
                </a:solidFill>
              </a:rPr>
              <a:t>runtime_signal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5A6478"/>
                </a:solidFill>
              </a:rPr>
              <a:t>runtime_reference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5A6478"/>
                </a:solidFill>
              </a:rPr>
              <a:t>runtime_metric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5A6478"/>
                </a:solidFill>
              </a:rPr>
              <a:t>robot_pose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6217920" y="2093976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478"/>
                </a:solidFill>
              </a:rPr>
              <a:t>▼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069080" y="2176272"/>
            <a:ext cx="475488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069080" y="2176272"/>
            <a:ext cx="54864" cy="594360"/>
          </a:xfrm>
          <a:prstGeom prst="rect">
            <a:avLst/>
          </a:prstGeom>
          <a:solidFill>
            <a:srgbClr val="1A6EF5"/>
          </a:solidFill>
          <a:ln w="12700">
            <a:solidFill>
              <a:srgbClr val="1A6EF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151376" y="223113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6EF5"/>
                </a:solidFill>
              </a:rPr>
              <a:t>3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379976" y="2221992"/>
            <a:ext cx="4370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030"/>
                </a:solidFill>
              </a:rPr>
              <a:t>Service Function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151376" y="2459736"/>
            <a:ext cx="4599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A6478"/>
                </a:solidFill>
              </a:rPr>
              <a:t>get_latest_runtime_window()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5A6478"/>
                </a:solidFill>
              </a:rPr>
              <a:t>→ signal + reference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5A6478"/>
                </a:solidFill>
              </a:rPr>
              <a:t>+ metric + pose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6217920" y="2770632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478"/>
                </a:solidFill>
              </a:rPr>
              <a:t>▼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069080" y="2852928"/>
            <a:ext cx="475488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4069080" y="2852928"/>
            <a:ext cx="54864" cy="594360"/>
          </a:xfrm>
          <a:prstGeom prst="rect">
            <a:avLst/>
          </a:prstGeom>
          <a:solidFill>
            <a:srgbClr val="1A9E3A"/>
          </a:solidFill>
          <a:ln w="12700">
            <a:solidFill>
              <a:srgbClr val="1A9E3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151376" y="290779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9E3A"/>
                </a:solidFill>
              </a:rPr>
              <a:t>4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4379976" y="2898648"/>
            <a:ext cx="4370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030"/>
                </a:solidFill>
              </a:rPr>
              <a:t>前端渲染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4151376" y="3136392"/>
            <a:ext cx="4599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A6478"/>
                </a:solidFill>
              </a:rPr>
              <a:t>buildSData() → getComps()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5A6478"/>
                </a:solidFill>
              </a:rPr>
              <a:t>→ renderStations()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5A6478"/>
                </a:solidFill>
              </a:rPr>
              <a:t>元件 level + value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320040" y="2852928"/>
            <a:ext cx="36576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457200" y="2926080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030"/>
                </a:solidFill>
              </a:rPr>
              <a:t>response 重點欄位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457200" y="32004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signal.pressure_bar  → 空壓機元件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457200" y="352958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signal.spray_width_mm → 噴幅 SVG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457200" y="385876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reference.nominal_*  → 正常範圍計算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457200" y="41879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metric.composite_anomaly_score → 站點燈號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457200" y="451713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metric.pressure_error_ratio → 元件 level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4069080" y="2852928"/>
            <a:ext cx="475488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5" name="Text 63"/>
          <p:cNvSpPr/>
          <p:nvPr/>
        </p:nvSpPr>
        <p:spPr>
          <a:xfrm>
            <a:off x="4206240" y="2926080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030"/>
                </a:solidFill>
              </a:rPr>
              <a:t>composite_anomaly_score 公式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4206240" y="3200400"/>
            <a:ext cx="448056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= w1×|p−nom_p|/nom_p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A2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+ w2×max(0, nom_f−f)/nom_f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A2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+ w3×|sw−nom_sw|/nom_sw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A2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+ w4×|th−target_th|/target_th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A2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w1~w4 從 production_line_config 讀取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030"/>
                </a:solidFill>
              </a:rPr>
              <a:t>③ 元件異常詳情面板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365760" y="512064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6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get_latest_diagnosis(line_id)  →  GET /api/v1/lines/{id}/diagnosis/latest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365760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87782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030"/>
                </a:solidFill>
              </a:rPr>
              <a:t>空壓機 Air Compressor — 異常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11480" y="1188720"/>
            <a:ext cx="3429000" cy="1234440"/>
          </a:xfrm>
          <a:prstGeom prst="rect">
            <a:avLst/>
          </a:prstGeom>
          <a:solidFill>
            <a:srgbClr val="FFF0EF"/>
          </a:solidFill>
          <a:ln w="12700">
            <a:solidFill>
              <a:srgbClr val="F4A0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28016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A6478"/>
                </a:solidFill>
              </a:rPr>
              <a:t>數值：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481328" y="128016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030"/>
                </a:solidFill>
              </a:rPr>
              <a:t>壓力 1.8 bar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30352" y="160934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A6478"/>
                </a:solidFill>
              </a:rPr>
              <a:t>正常範圍：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481328" y="160934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8"/>
                </a:solidFill>
              </a:rPr>
              <a:t>≥ 2.0 bar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30352" y="193852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A6478"/>
                </a:solidFill>
              </a:rPr>
              <a:t>差異：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481328" y="193852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2B22"/>
                </a:solidFill>
              </a:rPr>
              <a:t>低於正常值 0.2 bar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83464" y="768096"/>
            <a:ext cx="3730752" cy="2221992"/>
          </a:xfrm>
          <a:prstGeom prst="rect">
            <a:avLst/>
          </a:prstGeom>
          <a:ln w="22860">
            <a:solidFill>
              <a:srgbClr val="1A6E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3072384"/>
            <a:ext cx="3657600" cy="950976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7200" y="3145536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9E3A"/>
                </a:solidFill>
              </a:rPr>
              <a:t>✓ 正常元件（level = ok）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57200" y="3383280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8"/>
                </a:solidFill>
              </a:rPr>
              <a:t>只顯示 數值 + 正常範圍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5A6478"/>
                </a:solidFill>
              </a:rPr>
              <a:t>不顯示「差異」欄，也不顯示問題/原因/處理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160520" y="822960"/>
            <a:ext cx="466344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160520" y="822960"/>
            <a:ext cx="54864" cy="59436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42816" y="87782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2B4A"/>
                </a:solidFill>
              </a:rPr>
              <a:t>1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471416" y="868680"/>
            <a:ext cx="4279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030"/>
                </a:solidFill>
              </a:rPr>
              <a:t>DB 查詢（3 類診斷）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242816" y="1106424"/>
            <a:ext cx="4507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A6478"/>
                </a:solidFill>
              </a:rPr>
              <a:t>diagnosis_result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5A6478"/>
                </a:solidFill>
              </a:rPr>
              <a:t>WHERE category IN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5A6478"/>
                </a:solidFill>
              </a:rPr>
              <a:t>(filter/nozzle/process)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5A6478"/>
                </a:solidFill>
              </a:rPr>
              <a:t>ORDER BY start_time DESC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6309360" y="1417320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478"/>
                </a:solidFill>
              </a:rPr>
              <a:t>▼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160520" y="1499616"/>
            <a:ext cx="466344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160520" y="1499616"/>
            <a:ext cx="54864" cy="594360"/>
          </a:xfrm>
          <a:prstGeom prst="rect">
            <a:avLst/>
          </a:prstGeom>
          <a:solidFill>
            <a:srgbClr val="1C5F8A"/>
          </a:solidFill>
          <a:ln w="12700">
            <a:solidFill>
              <a:srgbClr val="1C5F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42816" y="155448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5F8A"/>
                </a:solidFill>
              </a:rPr>
              <a:t>2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471416" y="1545336"/>
            <a:ext cx="4279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030"/>
                </a:solidFill>
              </a:rPr>
              <a:t>JOIN threshold 表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242816" y="1783080"/>
            <a:ext cx="4507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A6478"/>
                </a:solidFill>
              </a:rPr>
              <a:t>filter_threshold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5A6478"/>
                </a:solidFill>
              </a:rPr>
              <a:t>nozzle_threshold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5A6478"/>
                </a:solidFill>
              </a:rPr>
              <a:t>process_threshold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5A6478"/>
                </a:solidFill>
              </a:rPr>
              <a:t>→ 計算 baseline / diff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6309360" y="2093976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478"/>
                </a:solidFill>
              </a:rPr>
              <a:t>▼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160520" y="2176272"/>
            <a:ext cx="466344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160520" y="2176272"/>
            <a:ext cx="54864" cy="594360"/>
          </a:xfrm>
          <a:prstGeom prst="rect">
            <a:avLst/>
          </a:prstGeom>
          <a:solidFill>
            <a:srgbClr val="1A6EF5"/>
          </a:solidFill>
          <a:ln w="12700">
            <a:solidFill>
              <a:srgbClr val="1A6EF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42816" y="223113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6EF5"/>
                </a:solidFill>
              </a:rPr>
              <a:t>3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471416" y="2221992"/>
            <a:ext cx="4279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030"/>
                </a:solidFill>
              </a:rPr>
              <a:t>Service Function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242816" y="2459736"/>
            <a:ext cx="4507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A6478"/>
                </a:solidFill>
              </a:rPr>
              <a:t>get_latest_diagnosis()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5A6478"/>
                </a:solidFill>
              </a:rPr>
              <a:t>→ {state_label, severity_rank,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5A6478"/>
                </a:solidFill>
              </a:rPr>
              <a:t>confidence, baseline, diff}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6309360" y="2770632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478"/>
                </a:solidFill>
              </a:rPr>
              <a:t>▼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160520" y="2852928"/>
            <a:ext cx="466344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160520" y="2852928"/>
            <a:ext cx="54864" cy="594360"/>
          </a:xfrm>
          <a:prstGeom prst="rect">
            <a:avLst/>
          </a:prstGeom>
          <a:solidFill>
            <a:srgbClr val="1A9E3A"/>
          </a:solidFill>
          <a:ln w="12700">
            <a:solidFill>
              <a:srgbClr val="1A9E3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242816" y="290779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9E3A"/>
                </a:solidFill>
              </a:rPr>
              <a:t>4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471416" y="2898648"/>
            <a:ext cx="4279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030"/>
                </a:solidFill>
              </a:rPr>
              <a:t>前端邏輯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242816" y="3136392"/>
            <a:ext cx="4507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A6478"/>
                </a:solidFill>
              </a:rPr>
              <a:t>level==='ok' → 只顯示 value+baseline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5A6478"/>
                </a:solidFill>
              </a:rPr>
              <a:t>level!=='ok' → 加顯示 diff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5A6478"/>
                </a:solidFill>
              </a:rPr>
              <a:t>移除 issue/reason/solution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4160520" y="3538728"/>
            <a:ext cx="4663440" cy="484632"/>
          </a:xfrm>
          <a:prstGeom prst="rect">
            <a:avLst/>
          </a:prstGeom>
          <a:solidFill>
            <a:srgbClr val="FFF8E8"/>
          </a:solidFill>
          <a:ln w="12700">
            <a:solidFill>
              <a:srgbClr val="F0D08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279392" y="3593592"/>
            <a:ext cx="4425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6000"/>
                </a:solidFill>
              </a:rPr>
              <a:t>⚠ filter/nozzle/process_threshold 是三張獨立表（非舊版 threshold_config），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8A6000"/>
                </a:solidFill>
              </a:rPr>
              <a:t>由 import_threshold_csvs() idempotent upsert 匯入。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030"/>
                </a:solidFill>
              </a:rPr>
              <a:t>④ 時序檢視器 Slider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365760" y="512064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6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get_metric_trend() / get_diagnosis_timeline()  →  hypertable range query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850392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8686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030"/>
                </a:solidFill>
              </a:rPr>
              <a:t>⏱  時序檢視器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11556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478"/>
                </a:solidFill>
              </a:rPr>
              <a:t>過去 6 小時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931920" y="11155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42B22"/>
                </a:solidFill>
              </a:rPr>
              <a:t>現在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0" y="111556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C52D0"/>
                </a:solidFill>
              </a:rPr>
              <a:t>未來 2 小時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02920" y="1344168"/>
            <a:ext cx="8138160" cy="54864"/>
          </a:xfrm>
          <a:prstGeom prst="rect">
            <a:avLst/>
          </a:prstGeom>
          <a:solidFill>
            <a:srgbClr val="C8D8F8"/>
          </a:solidFill>
          <a:ln w="12700">
            <a:solidFill>
              <a:srgbClr val="C8D8F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344168"/>
            <a:ext cx="5760720" cy="54864"/>
          </a:xfrm>
          <a:prstGeom prst="rect">
            <a:avLst/>
          </a:prstGeom>
          <a:solidFill>
            <a:srgbClr val="1A6EF5"/>
          </a:solidFill>
          <a:ln w="12700">
            <a:solidFill>
              <a:srgbClr val="1A6E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44768" y="1261872"/>
            <a:ext cx="201168" cy="201168"/>
          </a:xfrm>
          <a:prstGeom prst="ellipse">
            <a:avLst/>
          </a:prstGeom>
          <a:solidFill>
            <a:srgbClr val="D42B2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769864" y="822960"/>
            <a:ext cx="18288" cy="841248"/>
          </a:xfrm>
          <a:prstGeom prst="rect">
            <a:avLst/>
          </a:prstGeom>
          <a:solidFill>
            <a:srgbClr val="D42B22"/>
          </a:solidFill>
          <a:ln w="12700">
            <a:solidFill>
              <a:srgbClr val="D42B2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3464" y="768096"/>
            <a:ext cx="8577072" cy="987552"/>
          </a:xfrm>
          <a:prstGeom prst="rect">
            <a:avLst/>
          </a:prstGeom>
          <a:ln w="22860">
            <a:solidFill>
              <a:srgbClr val="1A6E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1883664"/>
            <a:ext cx="2743200" cy="493776"/>
          </a:xfrm>
          <a:prstGeom prst="rect">
            <a:avLst/>
          </a:prstGeom>
          <a:solidFill>
            <a:srgbClr val="EEF4FF"/>
          </a:solidFill>
          <a:ln w="12700">
            <a:solidFill>
              <a:srgbClr val="1A6E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1920240"/>
            <a:ext cx="2615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2030"/>
                </a:solidFill>
              </a:rPr>
              <a:t>過去：history 資料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1A2030"/>
                </a:solidFill>
              </a:rPr>
              <a:t>runtime_window 精確查詢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337560" y="1883664"/>
            <a:ext cx="2743200" cy="493776"/>
          </a:xfrm>
          <a:prstGeom prst="rect">
            <a:avLst/>
          </a:prstGeom>
          <a:solidFill>
            <a:srgbClr val="EEF8F0"/>
          </a:solidFill>
          <a:ln w="12700">
            <a:solidFill>
              <a:srgbClr val="1A9E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01568" y="1920240"/>
            <a:ext cx="2615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2030"/>
                </a:solidFill>
              </a:rPr>
              <a:t>現在：最新 window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1A2030"/>
                </a:solidFill>
              </a:rPr>
              <a:t>cache 30 秒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263640" y="1883664"/>
            <a:ext cx="2743200" cy="493776"/>
          </a:xfrm>
          <a:prstGeom prst="rect">
            <a:avLst/>
          </a:prstGeom>
          <a:solidFill>
            <a:srgbClr val="F8EEF8"/>
          </a:solidFill>
          <a:ln w="12700">
            <a:solidFill>
              <a:srgbClr val="7C52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27648" y="1920240"/>
            <a:ext cx="2615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2030"/>
                </a:solidFill>
              </a:rPr>
              <a:t>未來：forecast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1A2030"/>
                </a:solidFill>
              </a:rPr>
              <a:t>線性外推 / ml_prediction_result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20040" y="2514600"/>
            <a:ext cx="2816352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2514600"/>
            <a:ext cx="54864" cy="1078992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2336" y="256946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2B4A"/>
                </a:solidFill>
              </a:rPr>
              <a:t>1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30936" y="2560320"/>
            <a:ext cx="2432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030"/>
                </a:solidFill>
              </a:rPr>
              <a:t>TimescaleDB range scan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02336" y="2798064"/>
            <a:ext cx="266090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A6478"/>
                </a:solidFill>
              </a:rPr>
              <a:t>WHERE line_id=$1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5A6478"/>
                </a:solidFill>
              </a:rPr>
              <a:t>AND start_time BETWEEN $2 AND $3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5A6478"/>
                </a:solidFill>
              </a:rPr>
              <a:t>→ chunk pruning (高效)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3063240" y="2990088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8"/>
                </a:solidFill>
              </a:rPr>
              <a:t>▶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64408" y="2514600"/>
            <a:ext cx="2816352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64408" y="2514600"/>
            <a:ext cx="54864" cy="1078992"/>
          </a:xfrm>
          <a:prstGeom prst="rect">
            <a:avLst/>
          </a:prstGeom>
          <a:solidFill>
            <a:srgbClr val="1C5F8A"/>
          </a:solidFill>
          <a:ln w="12700">
            <a:solidFill>
              <a:srgbClr val="1C5F8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46704" y="256946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5F8A"/>
                </a:solidFill>
              </a:rPr>
              <a:t>2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575304" y="2560320"/>
            <a:ext cx="2432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030"/>
                </a:solidFill>
              </a:rPr>
              <a:t>Metric + Diagnosis 查詢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346704" y="2798064"/>
            <a:ext cx="266090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A6478"/>
                </a:solidFill>
              </a:rPr>
              <a:t>get_metric_trend(metric_name, start, end)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5A6478"/>
                </a:solidFill>
              </a:rPr>
              <a:t>get_diagnosis_timeline(category, start, end)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6007608" y="2990088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8"/>
                </a:solidFill>
              </a:rPr>
              <a:t>▶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208776" y="2514600"/>
            <a:ext cx="2816352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208776" y="2514600"/>
            <a:ext cx="54864" cy="1078992"/>
          </a:xfrm>
          <a:prstGeom prst="rect">
            <a:avLst/>
          </a:prstGeom>
          <a:solidFill>
            <a:srgbClr val="1A6EF5"/>
          </a:solidFill>
          <a:ln w="12700">
            <a:solidFill>
              <a:srgbClr val="1A6EF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91072" y="256946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6EF5"/>
                </a:solidFill>
              </a:rPr>
              <a:t>3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519672" y="2560320"/>
            <a:ext cx="2432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030"/>
                </a:solidFill>
              </a:rPr>
              <a:t>前端 slider 邏輯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291072" y="2798064"/>
            <a:ext cx="266090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A6478"/>
                </a:solidFill>
              </a:rPr>
              <a:t>time_offset_hours: -6 ~ +2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5A6478"/>
                </a:solidFill>
              </a:rPr>
              <a:t>setMode() → updateSliderLabels()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5A6478"/>
                </a:solidFill>
              </a:rPr>
              <a:t>→ 依時間區間顯示 history/current/forecast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320040" y="3712464"/>
            <a:ext cx="850392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502920" y="378561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2B4A"/>
                </a:solidFill>
              </a:rPr>
              <a:t>⚡ TimescaleDB Hypertable 優化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02920" y="405993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030"/>
                </a:solidFill>
              </a:rPr>
              <a:t>• runtime_window 依 start_time 自動分塊 → 範圍查詢只掃對應 chunk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502920" y="43159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030"/>
                </a:solidFill>
              </a:rPr>
              <a:t>• arm_telemetry_raw 依 sim_timestamp 分塊 → 原始 telemetry 高頻寫入不影響讀取效能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502920" y="45720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030"/>
                </a:solidFill>
              </a:rPr>
              <a:t>• 必帶時間條件：WHERE start_time &gt;= now() - INTERVAL …（否則全表掃描）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📊 生產管理 Tab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371600" y="26974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8B8D8"/>
                </a:solidFill>
              </a:rPr>
              <a:t>主管視角：KPI 彙整、良率趨勢、Batch 管理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030"/>
                </a:solidFill>
              </a:rPr>
              <a:t>⑤ 狀態 Banner + KPI 卡 × 4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365760" y="52120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6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get_overall_status()  +  get_kpi_summary(line_id, date)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8503920" cy="548640"/>
          </a:xfrm>
          <a:prstGeom prst="rect">
            <a:avLst/>
          </a:prstGeom>
          <a:solidFill>
            <a:srgbClr val="FFF3F2"/>
          </a:solidFill>
          <a:ln w="12700">
            <a:solidFill>
              <a:srgbClr val="F4A099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75488" y="923544"/>
            <a:ext cx="201168" cy="201168"/>
          </a:xfrm>
          <a:prstGeom prst="ellipse">
            <a:avLst/>
          </a:prstGeom>
          <a:solidFill>
            <a:srgbClr val="D42B22"/>
          </a:solidFill>
          <a:ln w="12700">
            <a:solidFill>
              <a:srgbClr val="D42B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886968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030"/>
                </a:solidFill>
              </a:rPr>
              <a:t>Station 2：噴塗壓力不穩定 — 預測 OK 91.4%，NG 28 件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949440" y="877824"/>
            <a:ext cx="822960" cy="256032"/>
          </a:xfrm>
          <a:prstGeom prst="rect">
            <a:avLst/>
          </a:prstGeom>
          <a:solidFill>
            <a:srgbClr val="D42B22"/>
          </a:solidFill>
          <a:ln w="12700">
            <a:solidFill>
              <a:srgbClr val="D42B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0" y="87782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HIGH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83464" y="768096"/>
            <a:ext cx="8577072" cy="621792"/>
          </a:xfrm>
          <a:prstGeom prst="rect">
            <a:avLst/>
          </a:prstGeom>
          <a:ln w="22860">
            <a:solidFill>
              <a:srgbClr val="D42B2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508760"/>
            <a:ext cx="1993392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508760"/>
            <a:ext cx="1993392" cy="36576"/>
          </a:xfrm>
          <a:prstGeom prst="rect">
            <a:avLst/>
          </a:prstGeom>
          <a:solidFill>
            <a:srgbClr val="7C52D0"/>
          </a:solidFill>
          <a:ln w="12700">
            <a:solidFill>
              <a:srgbClr val="7C52D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45920" y="1554480"/>
            <a:ext cx="822960" cy="201168"/>
          </a:xfrm>
          <a:prstGeom prst="roundRect">
            <a:avLst>
              <a:gd name="adj" fmla="val 22727"/>
            </a:avLst>
          </a:prstGeom>
          <a:solidFill>
            <a:srgbClr val="7C52D0"/>
          </a:solidFill>
          <a:ln/>
        </p:spPr>
      </p:sp>
      <p:sp>
        <p:nvSpPr>
          <p:cNvPr id="13" name="Text 11"/>
          <p:cNvSpPr/>
          <p:nvPr/>
        </p:nvSpPr>
        <p:spPr>
          <a:xfrm>
            <a:off x="1645920" y="155448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Predicted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411480" y="16276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A6478"/>
                </a:solidFill>
              </a:rPr>
              <a:t>今日預測 OK Rate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411480" y="18288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030"/>
                </a:solidFill>
              </a:rPr>
              <a:t>91.4%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11480" y="21945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42B22"/>
                </a:solidFill>
              </a:rPr>
              <a:t>▼ 1.2 pts vs 昨天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83464" y="1472184"/>
            <a:ext cx="2066544" cy="987552"/>
          </a:xfrm>
          <a:prstGeom prst="rect">
            <a:avLst/>
          </a:prstGeom>
          <a:ln w="19050">
            <a:solidFill>
              <a:srgbClr val="1A6EF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478024" y="1508760"/>
            <a:ext cx="1993392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478024" y="1508760"/>
            <a:ext cx="1993392" cy="3657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03904" y="1554480"/>
            <a:ext cx="822960" cy="201168"/>
          </a:xfrm>
          <a:prstGeom prst="roundRect">
            <a:avLst>
              <a:gd name="adj" fmla="val 22727"/>
            </a:avLst>
          </a:prstGeom>
          <a:solidFill>
            <a:srgbClr val="B8860B"/>
          </a:solidFill>
          <a:ln/>
        </p:spPr>
      </p:sp>
      <p:sp>
        <p:nvSpPr>
          <p:cNvPr id="21" name="Text 19"/>
          <p:cNvSpPr/>
          <p:nvPr/>
        </p:nvSpPr>
        <p:spPr>
          <a:xfrm>
            <a:off x="3803904" y="155448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Pending QC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2569464" y="16276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A6478"/>
                </a:solidFill>
              </a:rPr>
              <a:t>今日預測 NG 件數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2569464" y="18288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030"/>
                </a:solidFill>
              </a:rPr>
              <a:t>28 件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2569464" y="21945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9E3A"/>
                </a:solidFill>
              </a:rPr>
              <a:t>目標 ≤ 35 件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441448" y="1472184"/>
            <a:ext cx="2066544" cy="987552"/>
          </a:xfrm>
          <a:prstGeom prst="rect">
            <a:avLst/>
          </a:prstGeom>
          <a:ln w="19050">
            <a:solidFill>
              <a:srgbClr val="1A6EF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36008" y="1508760"/>
            <a:ext cx="1993392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36008" y="1508760"/>
            <a:ext cx="1993392" cy="36576"/>
          </a:xfrm>
          <a:prstGeom prst="rect">
            <a:avLst/>
          </a:prstGeom>
          <a:solidFill>
            <a:srgbClr val="1A6EF5"/>
          </a:solidFill>
          <a:ln w="12700">
            <a:solidFill>
              <a:srgbClr val="1A6EF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961888" y="1554480"/>
            <a:ext cx="822960" cy="201168"/>
          </a:xfrm>
          <a:prstGeom prst="roundRect">
            <a:avLst>
              <a:gd name="adj" fmla="val 22727"/>
            </a:avLst>
          </a:prstGeom>
          <a:solidFill>
            <a:srgbClr val="1A6EF5"/>
          </a:solidFill>
          <a:ln/>
        </p:spPr>
      </p:sp>
      <p:sp>
        <p:nvSpPr>
          <p:cNvPr id="29" name="Text 27"/>
          <p:cNvSpPr/>
          <p:nvPr/>
        </p:nvSpPr>
        <p:spPr>
          <a:xfrm>
            <a:off x="5961888" y="155448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Live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4727448" y="16276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A6478"/>
                </a:solidFill>
              </a:rPr>
              <a:t>產線稼動率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4727448" y="18288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030"/>
                </a:solidFill>
              </a:rPr>
              <a:t>82.1%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4727448" y="21945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8860B"/>
                </a:solidFill>
              </a:rPr>
              <a:t>目標 85%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599432" y="1472184"/>
            <a:ext cx="2066544" cy="987552"/>
          </a:xfrm>
          <a:prstGeom prst="rect">
            <a:avLst/>
          </a:prstGeom>
          <a:ln w="19050">
            <a:solidFill>
              <a:srgbClr val="1A6EF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793992" y="1508760"/>
            <a:ext cx="1993392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793992" y="1508760"/>
            <a:ext cx="1993392" cy="36576"/>
          </a:xfrm>
          <a:prstGeom prst="rect">
            <a:avLst/>
          </a:prstGeom>
          <a:solidFill>
            <a:srgbClr val="1A6EF5"/>
          </a:solidFill>
          <a:ln w="12700">
            <a:solidFill>
              <a:srgbClr val="1A6EF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119872" y="1554480"/>
            <a:ext cx="822960" cy="201168"/>
          </a:xfrm>
          <a:prstGeom prst="roundRect">
            <a:avLst>
              <a:gd name="adj" fmla="val 22727"/>
            </a:avLst>
          </a:prstGeom>
          <a:solidFill>
            <a:srgbClr val="1A6EF5"/>
          </a:solidFill>
          <a:ln/>
        </p:spPr>
      </p:sp>
      <p:sp>
        <p:nvSpPr>
          <p:cNvPr id="37" name="Text 35"/>
          <p:cNvSpPr/>
          <p:nvPr/>
        </p:nvSpPr>
        <p:spPr>
          <a:xfrm>
            <a:off x="8119872" y="155448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Live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6885432" y="16276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A6478"/>
                </a:solidFill>
              </a:rPr>
              <a:t>平均 Cycle Time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6885432" y="18288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030"/>
                </a:solidFill>
              </a:rPr>
              <a:t>41.8 秒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6885432" y="21945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8860B"/>
                </a:solidFill>
              </a:rPr>
              <a:t>基準 40 秒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6757416" y="1472184"/>
            <a:ext cx="2066544" cy="987552"/>
          </a:xfrm>
          <a:prstGeom prst="rect">
            <a:avLst/>
          </a:prstGeom>
          <a:ln w="19050">
            <a:solidFill>
              <a:srgbClr val="1A6EF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20040" y="2578608"/>
            <a:ext cx="2048256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320040" y="2578608"/>
            <a:ext cx="54864" cy="1078992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02336" y="263347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2B4A"/>
                </a:solidFill>
              </a:rPr>
              <a:t>1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30936" y="2624328"/>
            <a:ext cx="1664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030"/>
                </a:solidFill>
              </a:rPr>
              <a:t>Banner — get_overall_status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02336" y="2862072"/>
            <a:ext cx="1892808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A6478"/>
                </a:solidFill>
              </a:rPr>
              <a:t>集合 component_health_snapshot、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5A6478"/>
                </a:solidFill>
              </a:rPr>
              <a:t>ml_prediction_result、alert_log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5A6478"/>
                </a:solidFill>
              </a:rPr>
              <a:t>找 worst_station + predicted_ok_rate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2267712" y="3063240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8"/>
                </a:solidFill>
              </a:rPr>
              <a:t>▶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2514600" y="2578608"/>
            <a:ext cx="2048256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2514600" y="2578608"/>
            <a:ext cx="54864" cy="1078992"/>
          </a:xfrm>
          <a:prstGeom prst="rect">
            <a:avLst/>
          </a:prstGeom>
          <a:solidFill>
            <a:srgbClr val="1C5F8A"/>
          </a:solidFill>
          <a:ln w="12700">
            <a:solidFill>
              <a:srgbClr val="1C5F8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596896" y="263347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5F8A"/>
                </a:solidFill>
              </a:rPr>
              <a:t>2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2825496" y="2624328"/>
            <a:ext cx="1664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030"/>
                </a:solidFill>
              </a:rPr>
              <a:t>KPI — get_kpi_summary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2596896" y="2862072"/>
            <a:ext cx="1892808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A6478"/>
                </a:solidFill>
              </a:rPr>
              <a:t>predicted_ok_rate = AVG(ml_prediction_result)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5A6478"/>
                </a:solidFill>
              </a:rPr>
              <a:t>predicted_ng_pcs = SUM(...)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5A6478"/>
                </a:solidFill>
              </a:rPr>
              <a:t>line_utilization = runtime_metric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5A6478"/>
                </a:solidFill>
              </a:rPr>
              <a:t>avg_cycle_time_s = part_history.cycle_time_ms/1000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4462272" y="3063240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8"/>
                </a:solidFill>
              </a:rPr>
              <a:t>▶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709160" y="2578608"/>
            <a:ext cx="2048256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4709160" y="2578608"/>
            <a:ext cx="54864" cy="1078992"/>
          </a:xfrm>
          <a:prstGeom prst="rect">
            <a:avLst/>
          </a:prstGeom>
          <a:solidFill>
            <a:srgbClr val="1A6EF5"/>
          </a:solidFill>
          <a:ln w="12700">
            <a:solidFill>
              <a:srgbClr val="1A6EF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791456" y="263347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6EF5"/>
                </a:solidFill>
              </a:rPr>
              <a:t>3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5020056" y="2624328"/>
            <a:ext cx="1664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030"/>
                </a:solidFill>
              </a:rPr>
              <a:t>API Response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4791456" y="2862072"/>
            <a:ext cx="1892808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A6478"/>
                </a:solidFill>
              </a:rPr>
              <a:t>GET /api/v1/lines/{id}/status?date=today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5A6478"/>
                </a:solidFill>
              </a:rPr>
              <a:t>GET /api/v1/lines/{id}/kpi?date=today</a:t>
            </a:r>
            <a:endParaRPr lang="en-US" sz="750" dirty="0"/>
          </a:p>
          <a:p>
            <a:pPr marL="0" indent="0">
              <a:buNone/>
            </a:pP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5A6478"/>
                </a:solidFill>
              </a:rPr>
              <a:t>cache_ttl_s: 30–120 依更新間隔設定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6656832" y="3063240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8"/>
                </a:solidFill>
              </a:rPr>
              <a:t>▶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6903720" y="2578608"/>
            <a:ext cx="2048256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6903720" y="2578608"/>
            <a:ext cx="54864" cy="1078992"/>
          </a:xfrm>
          <a:prstGeom prst="rect">
            <a:avLst/>
          </a:prstGeom>
          <a:solidFill>
            <a:srgbClr val="1A9E3A"/>
          </a:solidFill>
          <a:ln w="12700">
            <a:solidFill>
              <a:srgbClr val="1A9E3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986016" y="263347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9E3A"/>
                </a:solidFill>
              </a:rPr>
              <a:t>4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7214616" y="2624328"/>
            <a:ext cx="1664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030"/>
                </a:solidFill>
              </a:rPr>
              <a:t>前端渲染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6986016" y="2862072"/>
            <a:ext cx="1892808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A6478"/>
                </a:solidFill>
              </a:rPr>
              <a:t>renderBanner()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5A6478"/>
                </a:solidFill>
              </a:rPr>
              <a:t>→ bDot classList + bHeading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5A6478"/>
                </a:solidFill>
              </a:rPr>
              <a:t>renderKPI()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5A6478"/>
                </a:solidFill>
              </a:rPr>
              <a:t>→ kpi-val + kpi-delta ▲▼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320040" y="3794760"/>
            <a:ext cx="850392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6" name="Text 64"/>
          <p:cNvSpPr/>
          <p:nvPr/>
        </p:nvSpPr>
        <p:spPr>
          <a:xfrm>
            <a:off x="502920" y="38587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030"/>
                </a:solidFill>
              </a:rPr>
              <a:t>delta 計算方式（▲/▼ 與昨日對比）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502920" y="41148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030"/>
                </a:solidFill>
              </a:rPr>
              <a:t>① 今日 predicted_ok_rate（from ml_prediction_result WHERE DATE = today）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2030"/>
                </a:solidFill>
              </a:rPr>
              <a:t>② 昨日 actual_ok_rate（from qc_result WHERE DATE = yesterday）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2030"/>
                </a:solidFill>
              </a:rPr>
              <a:t>③ delta = ②−① → ▲表示今日低於昨日 Actual（預測退步）；▼反之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030"/>
                </a:solidFill>
              </a:rPr>
              <a:t>⑥ 良率趨勢圖（24h 並排對比）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11480" y="1106424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6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get_yield_comparison(line_id, date)  →  GET /api/v1/lines/{id}/charts/yield-comparison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365760" y="1389888"/>
            <a:ext cx="512064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45389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030"/>
                </a:solidFill>
              </a:rPr>
              <a:t>良率趨勢（昨日 + 今日）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2242109"/>
            <a:ext cx="237744" cy="1031443"/>
          </a:xfrm>
          <a:prstGeom prst="rect">
            <a:avLst/>
          </a:prstGeom>
          <a:solidFill>
            <a:srgbClr val="1A6EF5">
              <a:alpha val="70000"/>
            </a:srgbClr>
          </a:solidFill>
          <a:ln w="6350">
            <a:solidFill>
              <a:srgbClr val="1A6E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58952" y="2253082"/>
            <a:ext cx="237744" cy="1020470"/>
          </a:xfrm>
          <a:prstGeom prst="rect">
            <a:avLst/>
          </a:prstGeom>
          <a:solidFill>
            <a:srgbClr val="1A9E3A">
              <a:alpha val="70000"/>
            </a:srgbClr>
          </a:solidFill>
          <a:ln w="6350">
            <a:solidFill>
              <a:srgbClr val="1A9E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3300984"/>
            <a:ext cx="502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9BA3B0"/>
                </a:solidFill>
              </a:rPr>
              <a:t>00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1106424" y="2253082"/>
            <a:ext cx="237744" cy="1020470"/>
          </a:xfrm>
          <a:prstGeom prst="rect">
            <a:avLst/>
          </a:prstGeom>
          <a:solidFill>
            <a:srgbClr val="1A6EF5">
              <a:alpha val="70000"/>
            </a:srgbClr>
          </a:solidFill>
          <a:ln w="6350">
            <a:solidFill>
              <a:srgbClr val="1A6E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06424" y="3300984"/>
            <a:ext cx="502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9BA3B0"/>
                </a:solidFill>
              </a:rPr>
              <a:t>02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1709928" y="2231136"/>
            <a:ext cx="237744" cy="1042416"/>
          </a:xfrm>
          <a:prstGeom prst="rect">
            <a:avLst/>
          </a:prstGeom>
          <a:solidFill>
            <a:srgbClr val="1A6EF5">
              <a:alpha val="70000"/>
            </a:srgbClr>
          </a:solidFill>
          <a:ln w="6350">
            <a:solidFill>
              <a:srgbClr val="1A6E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709928" y="3300984"/>
            <a:ext cx="502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9BA3B0"/>
                </a:solidFill>
              </a:rPr>
              <a:t>04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2313432" y="2264054"/>
            <a:ext cx="237744" cy="1009498"/>
          </a:xfrm>
          <a:prstGeom prst="rect">
            <a:avLst/>
          </a:prstGeom>
          <a:solidFill>
            <a:srgbClr val="1A6EF5">
              <a:alpha val="70000"/>
            </a:srgbClr>
          </a:solidFill>
          <a:ln w="6350">
            <a:solidFill>
              <a:srgbClr val="1A6E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69464" y="2275027"/>
            <a:ext cx="237744" cy="998525"/>
          </a:xfrm>
          <a:prstGeom prst="rect">
            <a:avLst/>
          </a:prstGeom>
          <a:solidFill>
            <a:srgbClr val="1A9E3A">
              <a:alpha val="70000"/>
            </a:srgbClr>
          </a:solidFill>
          <a:ln w="6350">
            <a:solidFill>
              <a:srgbClr val="1A9E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13432" y="3300984"/>
            <a:ext cx="502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9BA3B0"/>
                </a:solidFill>
              </a:rPr>
              <a:t>06</a:t>
            </a:r>
            <a:endParaRPr lang="en-US" sz="650" dirty="0"/>
          </a:p>
        </p:txBody>
      </p:sp>
      <p:sp>
        <p:nvSpPr>
          <p:cNvPr id="16" name="Shape 14"/>
          <p:cNvSpPr/>
          <p:nvPr/>
        </p:nvSpPr>
        <p:spPr>
          <a:xfrm>
            <a:off x="2916936" y="2275027"/>
            <a:ext cx="237744" cy="998525"/>
          </a:xfrm>
          <a:prstGeom prst="rect">
            <a:avLst/>
          </a:prstGeom>
          <a:solidFill>
            <a:srgbClr val="1A6EF5">
              <a:alpha val="70000"/>
            </a:srgbClr>
          </a:solidFill>
          <a:ln w="6350">
            <a:solidFill>
              <a:srgbClr val="1A6EF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172968" y="2296973"/>
            <a:ext cx="237744" cy="976579"/>
          </a:xfrm>
          <a:prstGeom prst="rect">
            <a:avLst/>
          </a:prstGeom>
          <a:solidFill>
            <a:srgbClr val="1A9E3A">
              <a:alpha val="30000"/>
            </a:srgbClr>
          </a:solidFill>
          <a:ln w="19050">
            <a:solidFill>
              <a:srgbClr val="D42B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16936" y="3300984"/>
            <a:ext cx="502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9BA3B0"/>
                </a:solidFill>
              </a:rPr>
              <a:t>08</a:t>
            </a:r>
            <a:endParaRPr lang="en-US" sz="650" dirty="0"/>
          </a:p>
        </p:txBody>
      </p:sp>
      <p:sp>
        <p:nvSpPr>
          <p:cNvPr id="19" name="Shape 17"/>
          <p:cNvSpPr/>
          <p:nvPr/>
        </p:nvSpPr>
        <p:spPr>
          <a:xfrm>
            <a:off x="3520440" y="2307946"/>
            <a:ext cx="237744" cy="965606"/>
          </a:xfrm>
          <a:prstGeom prst="rect">
            <a:avLst/>
          </a:prstGeom>
          <a:solidFill>
            <a:srgbClr val="1A6EF5">
              <a:alpha val="30000"/>
            </a:srgbClr>
          </a:solidFill>
          <a:ln w="19050">
            <a:solidFill>
              <a:srgbClr val="D42B2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20440" y="3300984"/>
            <a:ext cx="502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9BA3B0"/>
                </a:solidFill>
              </a:rPr>
              <a:t>10</a:t>
            </a:r>
            <a:endParaRPr lang="en-US" sz="650" dirty="0"/>
          </a:p>
        </p:txBody>
      </p:sp>
      <p:sp>
        <p:nvSpPr>
          <p:cNvPr id="21" name="Shape 19"/>
          <p:cNvSpPr/>
          <p:nvPr/>
        </p:nvSpPr>
        <p:spPr>
          <a:xfrm>
            <a:off x="4123944" y="2286000"/>
            <a:ext cx="237744" cy="987552"/>
          </a:xfrm>
          <a:prstGeom prst="rect">
            <a:avLst/>
          </a:prstGeom>
          <a:solidFill>
            <a:srgbClr val="1A6EF5">
              <a:alpha val="70000"/>
            </a:srgbClr>
          </a:solidFill>
          <a:ln w="6350">
            <a:solidFill>
              <a:srgbClr val="1A6EF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79976" y="2275027"/>
            <a:ext cx="237744" cy="998525"/>
          </a:xfrm>
          <a:prstGeom prst="rect">
            <a:avLst/>
          </a:prstGeom>
          <a:solidFill>
            <a:srgbClr val="1A9E3A">
              <a:alpha val="70000"/>
            </a:srgbClr>
          </a:solidFill>
          <a:ln w="6350">
            <a:solidFill>
              <a:srgbClr val="1A9E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23944" y="3300984"/>
            <a:ext cx="502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9BA3B0"/>
                </a:solidFill>
              </a:rPr>
              <a:t>12</a:t>
            </a:r>
            <a:endParaRPr lang="en-US" sz="650" dirty="0"/>
          </a:p>
        </p:txBody>
      </p:sp>
      <p:sp>
        <p:nvSpPr>
          <p:cNvPr id="24" name="Shape 22"/>
          <p:cNvSpPr/>
          <p:nvPr/>
        </p:nvSpPr>
        <p:spPr>
          <a:xfrm>
            <a:off x="4727448" y="2264054"/>
            <a:ext cx="237744" cy="1009498"/>
          </a:xfrm>
          <a:prstGeom prst="rect">
            <a:avLst/>
          </a:prstGeom>
          <a:solidFill>
            <a:srgbClr val="1A6EF5">
              <a:alpha val="70000"/>
            </a:srgbClr>
          </a:solidFill>
          <a:ln w="6350">
            <a:solidFill>
              <a:srgbClr val="1A6EF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983480" y="2275027"/>
            <a:ext cx="237744" cy="998525"/>
          </a:xfrm>
          <a:prstGeom prst="rect">
            <a:avLst/>
          </a:prstGeom>
          <a:solidFill>
            <a:srgbClr val="1A9E3A">
              <a:alpha val="70000"/>
            </a:srgbClr>
          </a:solidFill>
          <a:ln w="6350">
            <a:solidFill>
              <a:srgbClr val="1A9E3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27448" y="3300984"/>
            <a:ext cx="502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9BA3B0"/>
                </a:solidFill>
              </a:rPr>
              <a:t>14</a:t>
            </a:r>
            <a:endParaRPr lang="en-US" sz="650" dirty="0"/>
          </a:p>
        </p:txBody>
      </p:sp>
      <p:sp>
        <p:nvSpPr>
          <p:cNvPr id="27" name="Shape 25"/>
          <p:cNvSpPr/>
          <p:nvPr/>
        </p:nvSpPr>
        <p:spPr>
          <a:xfrm>
            <a:off x="484632" y="2286000"/>
            <a:ext cx="4864608" cy="0"/>
          </a:xfrm>
          <a:prstGeom prst="line">
            <a:avLst/>
          </a:prstGeom>
          <a:noFill/>
          <a:ln w="12700">
            <a:solidFill>
              <a:srgbClr val="D42B22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4617720" y="2249424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D42B22"/>
                </a:solidFill>
              </a:rPr>
              <a:t>90%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502920" y="3493008"/>
            <a:ext cx="164592" cy="128016"/>
          </a:xfrm>
          <a:prstGeom prst="rect">
            <a:avLst/>
          </a:prstGeom>
          <a:solidFill>
            <a:srgbClr val="1A6EF5"/>
          </a:solidFill>
          <a:ln w="12700">
            <a:solidFill>
              <a:srgbClr val="1A6EF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04088" y="3493008"/>
            <a:ext cx="14264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A6478"/>
                </a:solidFill>
              </a:rPr>
              <a:t>昨日 Actual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2167128" y="3493008"/>
            <a:ext cx="164592" cy="128016"/>
          </a:xfrm>
          <a:prstGeom prst="rect">
            <a:avLst/>
          </a:prstGeom>
          <a:solidFill>
            <a:srgbClr val="1A9E3A"/>
          </a:solidFill>
          <a:ln w="12700">
            <a:solidFill>
              <a:srgbClr val="1A9E3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368296" y="3493008"/>
            <a:ext cx="14264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A6478"/>
                </a:solidFill>
              </a:rPr>
              <a:t>今日 Predicted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3831336" y="3493008"/>
            <a:ext cx="164592" cy="128016"/>
          </a:xfrm>
          <a:prstGeom prst="rect">
            <a:avLst/>
          </a:prstGeom>
          <a:solidFill>
            <a:srgbClr val="D42B22"/>
          </a:solidFill>
          <a:ln w="12700">
            <a:solidFill>
              <a:srgbClr val="D42B2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032504" y="3493008"/>
            <a:ext cx="14264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A6478"/>
                </a:solidFill>
              </a:rPr>
              <a:t>未達標紅框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329184" y="1353312"/>
            <a:ext cx="5193792" cy="2377440"/>
          </a:xfrm>
          <a:prstGeom prst="rect">
            <a:avLst/>
          </a:prstGeom>
          <a:ln w="22860">
            <a:solidFill>
              <a:srgbClr val="1A6EF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692140" y="1334855"/>
            <a:ext cx="324612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692140" y="1334855"/>
            <a:ext cx="54864" cy="621792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774436" y="1389719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2B4A"/>
                </a:solidFill>
              </a:rPr>
              <a:t>1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003036" y="1380575"/>
            <a:ext cx="2862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030"/>
                </a:solidFill>
              </a:rPr>
              <a:t>昨日 Actual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774436" y="1618319"/>
            <a:ext cx="309067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A6478"/>
                </a:solidFill>
              </a:rPr>
              <a:t>qc_result JOIN part_history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5A6478"/>
                </a:solidFill>
              </a:rPr>
              <a:t>JOIN batch_run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5A6478"/>
                </a:solidFill>
              </a:rPr>
              <a:t>WHERE DATE = yesterday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5A6478"/>
                </a:solidFill>
              </a:rPr>
              <a:t>GROUP BY hour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7109460" y="1956647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478"/>
                </a:solidFill>
              </a:rPr>
              <a:t>▼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692140" y="2029799"/>
            <a:ext cx="324612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5692140" y="2029799"/>
            <a:ext cx="54864" cy="621792"/>
          </a:xfrm>
          <a:prstGeom prst="rect">
            <a:avLst/>
          </a:prstGeom>
          <a:solidFill>
            <a:srgbClr val="1C5F8A"/>
          </a:solidFill>
          <a:ln w="12700">
            <a:solidFill>
              <a:srgbClr val="1C5F8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774436" y="2084663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5F8A"/>
                </a:solidFill>
              </a:rPr>
              <a:t>2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003036" y="2075519"/>
            <a:ext cx="2862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030"/>
                </a:solidFill>
              </a:rPr>
              <a:t>今日 Predicted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774436" y="2313263"/>
            <a:ext cx="309067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A6478"/>
                </a:solidFill>
              </a:rPr>
              <a:t>ml_prediction_result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5A6478"/>
                </a:solidFill>
              </a:rPr>
              <a:t>WHERE prediction_type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5A6478"/>
                </a:solidFill>
              </a:rPr>
              <a:t>= qc_score AND DATE = today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5A6478"/>
                </a:solidFill>
              </a:rPr>
              <a:t>GROUP BY hour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7109460" y="2651591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478"/>
                </a:solidFill>
              </a:rPr>
              <a:t>▼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692140" y="2724743"/>
            <a:ext cx="324612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5692140" y="2724743"/>
            <a:ext cx="54864" cy="621792"/>
          </a:xfrm>
          <a:prstGeom prst="rect">
            <a:avLst/>
          </a:prstGeom>
          <a:solidFill>
            <a:srgbClr val="1A6EF5"/>
          </a:solidFill>
          <a:ln w="12700">
            <a:solidFill>
              <a:srgbClr val="1A6EF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774436" y="2779607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6EF5"/>
                </a:solidFill>
              </a:rPr>
              <a:t>3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003036" y="2770463"/>
            <a:ext cx="2862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030"/>
                </a:solidFill>
              </a:rPr>
              <a:t>API response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774436" y="3008207"/>
            <a:ext cx="309067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A6478"/>
                </a:solidFill>
              </a:rPr>
              <a:t>{"hours":[...24], "yesterday":[{hour, ok_rate, batch_id},...], "today":[...]}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5A6478"/>
                </a:solidFill>
              </a:rPr>
              <a:t>target: 90.0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7109460" y="3346535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478"/>
                </a:solidFill>
              </a:rPr>
              <a:t>▼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5692140" y="3419687"/>
            <a:ext cx="324612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5692140" y="3419687"/>
            <a:ext cx="54864" cy="621792"/>
          </a:xfrm>
          <a:prstGeom prst="rect">
            <a:avLst/>
          </a:prstGeom>
          <a:solidFill>
            <a:srgbClr val="1A9E3A"/>
          </a:solidFill>
          <a:ln w="12700">
            <a:solidFill>
              <a:srgbClr val="1A9E3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774436" y="3474551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9E3A"/>
                </a:solidFill>
              </a:rPr>
              <a:t>4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6003036" y="3465407"/>
            <a:ext cx="2862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030"/>
                </a:solidFill>
              </a:rPr>
              <a:t>前端邏輯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5774436" y="3703151"/>
            <a:ext cx="309067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A6478"/>
                </a:solidFill>
              </a:rPr>
              <a:t>固定 X 軸 24 小時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5A6478"/>
                </a:solidFill>
              </a:rPr>
              <a:t>同 index 左藍右綠並排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5A6478"/>
                </a:solidFill>
              </a:rPr>
              <a:t>afterBody: 對比昨日 ±pts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5A6478"/>
                </a:solidFill>
              </a:rPr>
              <a:t>skipNull 留空缺口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030"/>
                </a:solidFill>
              </a:rPr>
              <a:t>⑦ 品質趨勢 / 稼動率 / Cycle Time 圖表群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365760" y="52120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478"/>
                </a:solidFill>
              </a:rPr>
              <a:t>固定視窗：過去 6h + 現在 + 未來 2h  ·  垂直紅虛線 = 現在  ·  紫色背景帶 = Forecast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2834640" cy="1755648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868680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030"/>
                </a:solidFill>
              </a:rPr>
              <a:t>品質風險趨勢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84048" y="1133856"/>
            <a:ext cx="365760" cy="0"/>
          </a:xfrm>
          <a:prstGeom prst="line">
            <a:avLst/>
          </a:prstGeom>
          <a:noFill/>
          <a:ln w="25400">
            <a:solidFill>
              <a:srgbClr val="1A6E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1069848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A6478"/>
                </a:solidFill>
              </a:rPr>
              <a:t>昨日 Actual (藍)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84048" y="1298448"/>
            <a:ext cx="365760" cy="0"/>
          </a:xfrm>
          <a:prstGeom prst="line">
            <a:avLst/>
          </a:prstGeom>
          <a:noFill/>
          <a:ln w="25400">
            <a:solidFill>
              <a:srgbClr val="1A9E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" y="1234440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A6478"/>
                </a:solidFill>
              </a:rPr>
              <a:t>今日 Predicted (綠)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84048" y="1463040"/>
            <a:ext cx="365760" cy="0"/>
          </a:xfrm>
          <a:prstGeom prst="line">
            <a:avLst/>
          </a:prstGeom>
          <a:noFill/>
          <a:ln w="25400">
            <a:solidFill>
              <a:srgbClr val="7C52D0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786384" y="1399032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A6478"/>
                </a:solidFill>
              </a:rPr>
              <a:t>Forecast (紫)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384048" y="1627632"/>
            <a:ext cx="365760" cy="0"/>
          </a:xfrm>
          <a:prstGeom prst="line">
            <a:avLst/>
          </a:prstGeom>
          <a:noFill/>
          <a:ln w="12700">
            <a:solidFill>
              <a:srgbClr val="D42B22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786384" y="1563624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A6478"/>
                </a:solidFill>
              </a:rPr>
              <a:t>目標 90% (紅虛)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2103120" y="914400"/>
            <a:ext cx="0" cy="1554480"/>
          </a:xfrm>
          <a:prstGeom prst="line">
            <a:avLst/>
          </a:prstGeom>
          <a:noFill/>
          <a:ln w="12700">
            <a:solidFill>
              <a:srgbClr val="D42B22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2103120" y="1536192"/>
            <a:ext cx="804672" cy="512064"/>
          </a:xfrm>
          <a:prstGeom prst="rect">
            <a:avLst/>
          </a:prstGeom>
          <a:solidFill>
            <a:srgbClr val="F0EEFF"/>
          </a:solidFill>
          <a:ln w="12700">
            <a:solidFill>
              <a:srgbClr val="D0C0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03120" y="1554480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7C52D0"/>
                </a:solidFill>
              </a:rPr>
              <a:t>Forecast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7C52D0"/>
                </a:solidFill>
              </a:rPr>
              <a:t>2h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237744" y="768096"/>
            <a:ext cx="2907792" cy="1828800"/>
          </a:xfrm>
          <a:prstGeom prst="rect">
            <a:avLst/>
          </a:prstGeom>
          <a:ln w="19050">
            <a:solidFill>
              <a:srgbClr val="1A6E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670048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6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get_quality_trend()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274320" y="2871216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A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/charts/quality-trend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3246120" y="804672"/>
            <a:ext cx="2834640" cy="1755648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337560" y="868680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030"/>
                </a:solidFill>
              </a:rPr>
              <a:t>各站稼動率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355848" y="1133856"/>
            <a:ext cx="365760" cy="0"/>
          </a:xfrm>
          <a:prstGeom prst="line">
            <a:avLst/>
          </a:prstGeom>
          <a:noFill/>
          <a:ln w="25400">
            <a:solidFill>
              <a:srgbClr val="1A6EF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58184" y="1069848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A6478"/>
                </a:solidFill>
              </a:rPr>
              <a:t>S1 (藍)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3355848" y="1298448"/>
            <a:ext cx="365760" cy="0"/>
          </a:xfrm>
          <a:prstGeom prst="line">
            <a:avLst/>
          </a:prstGeom>
          <a:noFill/>
          <a:ln w="25400">
            <a:solidFill>
              <a:srgbClr val="1A9E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58184" y="1234440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A6478"/>
                </a:solidFill>
              </a:rPr>
              <a:t>S2 (紅)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3355848" y="1463040"/>
            <a:ext cx="365760" cy="0"/>
          </a:xfrm>
          <a:prstGeom prst="line">
            <a:avLst/>
          </a:prstGeom>
          <a:noFill/>
          <a:ln w="25400">
            <a:solidFill>
              <a:srgbClr val="7C52D0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3758184" y="1399032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A6478"/>
                </a:solidFill>
              </a:rPr>
              <a:t>S3 (琥珀)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3355848" y="1627632"/>
            <a:ext cx="365760" cy="0"/>
          </a:xfrm>
          <a:prstGeom prst="line">
            <a:avLst/>
          </a:prstGeom>
          <a:noFill/>
          <a:ln w="12700">
            <a:solidFill>
              <a:srgbClr val="D42B22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3758184" y="1563624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A6478"/>
                </a:solidFill>
              </a:rPr>
              <a:t>Forecast 虛線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5074920" y="914400"/>
            <a:ext cx="0" cy="1554480"/>
          </a:xfrm>
          <a:prstGeom prst="line">
            <a:avLst/>
          </a:prstGeom>
          <a:noFill/>
          <a:ln w="12700">
            <a:solidFill>
              <a:srgbClr val="D42B22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5074920" y="1536192"/>
            <a:ext cx="804672" cy="512064"/>
          </a:xfrm>
          <a:prstGeom prst="rect">
            <a:avLst/>
          </a:prstGeom>
          <a:solidFill>
            <a:srgbClr val="F0EEFF"/>
          </a:solidFill>
          <a:ln w="12700">
            <a:solidFill>
              <a:srgbClr val="D0C0F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74920" y="1554480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7C52D0"/>
                </a:solidFill>
              </a:rPr>
              <a:t>Forecast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7C52D0"/>
                </a:solidFill>
              </a:rPr>
              <a:t>2h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3209544" y="768096"/>
            <a:ext cx="2907792" cy="1828800"/>
          </a:xfrm>
          <a:prstGeom prst="rect">
            <a:avLst/>
          </a:prstGeom>
          <a:ln w="19050">
            <a:solidFill>
              <a:srgbClr val="1A6EF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46120" y="2670048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6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get_utilization_trend()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3246120" y="2871216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A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/charts/utilization-trend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6217920" y="804672"/>
            <a:ext cx="2834640" cy="1755648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309360" y="868680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030"/>
                </a:solidFill>
              </a:rPr>
              <a:t>各站 Cycle Time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327648" y="1133856"/>
            <a:ext cx="365760" cy="0"/>
          </a:xfrm>
          <a:prstGeom prst="line">
            <a:avLst/>
          </a:prstGeom>
          <a:noFill/>
          <a:ln w="25400">
            <a:solidFill>
              <a:srgbClr val="1A6EF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729984" y="1069848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A6478"/>
                </a:solidFill>
              </a:rPr>
              <a:t>S1 (藍)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6327648" y="1298448"/>
            <a:ext cx="365760" cy="0"/>
          </a:xfrm>
          <a:prstGeom prst="line">
            <a:avLst/>
          </a:prstGeom>
          <a:noFill/>
          <a:ln w="25400">
            <a:solidFill>
              <a:srgbClr val="1A9E3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729984" y="1234440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A6478"/>
                </a:solidFill>
              </a:rPr>
              <a:t>S2 (紅)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6327648" y="1463040"/>
            <a:ext cx="365760" cy="0"/>
          </a:xfrm>
          <a:prstGeom prst="line">
            <a:avLst/>
          </a:prstGeom>
          <a:noFill/>
          <a:ln w="25400">
            <a:solidFill>
              <a:srgbClr val="7C52D0"/>
            </a:solidFill>
            <a:prstDash val="dash"/>
          </a:ln>
        </p:spPr>
      </p:sp>
      <p:sp>
        <p:nvSpPr>
          <p:cNvPr id="43" name="Text 41"/>
          <p:cNvSpPr/>
          <p:nvPr/>
        </p:nvSpPr>
        <p:spPr>
          <a:xfrm>
            <a:off x="6729984" y="1399032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A6478"/>
                </a:solidFill>
              </a:rPr>
              <a:t>S3 (琥珀)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6327648" y="1627632"/>
            <a:ext cx="365760" cy="0"/>
          </a:xfrm>
          <a:prstGeom prst="line">
            <a:avLst/>
          </a:prstGeom>
          <a:noFill/>
          <a:ln w="12700">
            <a:solidFill>
              <a:srgbClr val="D42B22"/>
            </a:solidFill>
            <a:prstDash val="dash"/>
          </a:ln>
        </p:spPr>
      </p:sp>
      <p:sp>
        <p:nvSpPr>
          <p:cNvPr id="45" name="Text 43"/>
          <p:cNvSpPr/>
          <p:nvPr/>
        </p:nvSpPr>
        <p:spPr>
          <a:xfrm>
            <a:off x="6729984" y="1563624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A6478"/>
                </a:solidFill>
              </a:rPr>
              <a:t>Forecast 虛線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8046720" y="914400"/>
            <a:ext cx="0" cy="1554480"/>
          </a:xfrm>
          <a:prstGeom prst="line">
            <a:avLst/>
          </a:prstGeom>
          <a:noFill/>
          <a:ln w="12700">
            <a:solidFill>
              <a:srgbClr val="D42B22"/>
            </a:solidFill>
            <a:prstDash val="dash"/>
          </a:ln>
        </p:spPr>
      </p:sp>
      <p:sp>
        <p:nvSpPr>
          <p:cNvPr id="47" name="Shape 45"/>
          <p:cNvSpPr/>
          <p:nvPr/>
        </p:nvSpPr>
        <p:spPr>
          <a:xfrm>
            <a:off x="8046720" y="1536192"/>
            <a:ext cx="804672" cy="512064"/>
          </a:xfrm>
          <a:prstGeom prst="rect">
            <a:avLst/>
          </a:prstGeom>
          <a:solidFill>
            <a:srgbClr val="F0EEFF"/>
          </a:solidFill>
          <a:ln w="12700">
            <a:solidFill>
              <a:srgbClr val="D0C0F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046720" y="1554480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7C52D0"/>
                </a:solidFill>
              </a:rPr>
              <a:t>Forecast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7C52D0"/>
                </a:solidFill>
              </a:rPr>
              <a:t>2h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6181344" y="768096"/>
            <a:ext cx="2907792" cy="1828800"/>
          </a:xfrm>
          <a:prstGeom prst="rect">
            <a:avLst/>
          </a:prstGeom>
          <a:ln w="19050">
            <a:solidFill>
              <a:srgbClr val="1A6EF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217920" y="2670048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6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get_cycle_time_trend()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6217920" y="2871216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A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/charts/cycle-time-trend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274320" y="3127248"/>
            <a:ext cx="8595360" cy="18470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457200" y="320040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030"/>
                </a:solidFill>
              </a:rPr>
              <a:t>三張圖共用的資料流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365760" y="3529584"/>
            <a:ext cx="2029968" cy="1316736"/>
          </a:xfrm>
          <a:prstGeom prst="rect">
            <a:avLst/>
          </a:prstGeom>
          <a:solidFill>
            <a:srgbClr val="EEF4FF"/>
          </a:solidFill>
          <a:ln w="12700">
            <a:solidFill>
              <a:srgbClr val="C8D8F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65760" y="3529584"/>
            <a:ext cx="2029968" cy="237744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65760" y="3538728"/>
            <a:ext cx="2029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DB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438912" y="3803904"/>
            <a:ext cx="188366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A2030"/>
                </a:solidFill>
              </a:rPr>
              <a:t>runtime_metric (稼動率)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1A2030"/>
                </a:solidFill>
              </a:rPr>
              <a:t>part_history.cycle_time_ms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1A2030"/>
                </a:solidFill>
              </a:rPr>
              <a:t>qc_result (品質)</a:t>
            </a:r>
            <a:endParaRPr lang="en-US" sz="780" dirty="0"/>
          </a:p>
        </p:txBody>
      </p:sp>
      <p:sp>
        <p:nvSpPr>
          <p:cNvPr id="58" name="Text 56"/>
          <p:cNvSpPr/>
          <p:nvPr/>
        </p:nvSpPr>
        <p:spPr>
          <a:xfrm>
            <a:off x="2414016" y="4059936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8"/>
                </a:solidFill>
              </a:rPr>
              <a:t>▶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2542032" y="3529584"/>
            <a:ext cx="2029968" cy="1316736"/>
          </a:xfrm>
          <a:prstGeom prst="rect">
            <a:avLst/>
          </a:prstGeom>
          <a:solidFill>
            <a:srgbClr val="EEF4FF"/>
          </a:solidFill>
          <a:ln w="12700">
            <a:solidFill>
              <a:srgbClr val="C8D8F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542032" y="3529584"/>
            <a:ext cx="2029968" cy="237744"/>
          </a:xfrm>
          <a:prstGeom prst="rect">
            <a:avLst/>
          </a:prstGeom>
          <a:solidFill>
            <a:srgbClr val="1A6EF5"/>
          </a:solidFill>
          <a:ln w="12700">
            <a:solidFill>
              <a:srgbClr val="1A6EF5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542032" y="3538728"/>
            <a:ext cx="2029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Function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2615184" y="3803904"/>
            <a:ext cx="188366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A2030"/>
                </a:solidFill>
              </a:rPr>
              <a:t>nowHour() 對齊現在時間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1A2030"/>
                </a:solidFill>
              </a:rPr>
              <a:t>makeChartLabels() 產生 9 個 hourKey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1A2030"/>
                </a:solidFill>
              </a:rPr>
              <a:t>(past 6h + now + future 2h)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1A2030"/>
                </a:solidFill>
              </a:rPr>
              <a:t>向後端傳入 timestep 範圍查詢</a:t>
            </a:r>
            <a:endParaRPr lang="en-US" sz="780" dirty="0"/>
          </a:p>
        </p:txBody>
      </p:sp>
      <p:sp>
        <p:nvSpPr>
          <p:cNvPr id="63" name="Text 61"/>
          <p:cNvSpPr/>
          <p:nvPr/>
        </p:nvSpPr>
        <p:spPr>
          <a:xfrm>
            <a:off x="4590288" y="4059936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8"/>
                </a:solidFill>
              </a:rPr>
              <a:t>▶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718304" y="3529584"/>
            <a:ext cx="2029968" cy="1316736"/>
          </a:xfrm>
          <a:prstGeom prst="rect">
            <a:avLst/>
          </a:prstGeom>
          <a:solidFill>
            <a:srgbClr val="EEF4FF"/>
          </a:solidFill>
          <a:ln w="12700">
            <a:solidFill>
              <a:srgbClr val="C8D8F8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718304" y="3529584"/>
            <a:ext cx="2029968" cy="237744"/>
          </a:xfrm>
          <a:prstGeom prst="rect">
            <a:avLst/>
          </a:prstGeom>
          <a:solidFill>
            <a:srgbClr val="7C52D0"/>
          </a:solidFill>
          <a:ln w="12700">
            <a:solidFill>
              <a:srgbClr val="7C52D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718304" y="3538728"/>
            <a:ext cx="2029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Plugins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4791456" y="3803904"/>
            <a:ext cx="188366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A2030"/>
                </a:solidFill>
              </a:rPr>
              <a:t>Chart.js plugin: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1A2030"/>
                </a:solidFill>
              </a:rPr>
              <a:t>nowLine → 垂直紅虛線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1A2030"/>
                </a:solidFill>
              </a:rPr>
              <a:t>forecastZone → 紫色背景帶</a:t>
            </a:r>
            <a:endParaRPr lang="en-US" sz="780" dirty="0"/>
          </a:p>
        </p:txBody>
      </p:sp>
      <p:sp>
        <p:nvSpPr>
          <p:cNvPr id="68" name="Text 66"/>
          <p:cNvSpPr/>
          <p:nvPr/>
        </p:nvSpPr>
        <p:spPr>
          <a:xfrm>
            <a:off x="6766560" y="4059936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8"/>
                </a:solidFill>
              </a:rPr>
              <a:t>▶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6894576" y="3529584"/>
            <a:ext cx="2029968" cy="1316736"/>
          </a:xfrm>
          <a:prstGeom prst="rect">
            <a:avLst/>
          </a:prstGeom>
          <a:solidFill>
            <a:srgbClr val="EEF4FF"/>
          </a:solidFill>
          <a:ln w="12700">
            <a:solidFill>
              <a:srgbClr val="C8D8F8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894576" y="3529584"/>
            <a:ext cx="2029968" cy="237744"/>
          </a:xfrm>
          <a:prstGeom prst="rect">
            <a:avLst/>
          </a:prstGeom>
          <a:solidFill>
            <a:srgbClr val="1A9E3A"/>
          </a:solidFill>
          <a:ln w="12700">
            <a:solidFill>
              <a:srgbClr val="1A9E3A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894576" y="3538728"/>
            <a:ext cx="2029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前端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6967728" y="3803904"/>
            <a:ext cx="188366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A2030"/>
                </a:solidFill>
              </a:rPr>
              <a:t>renderQChart / renderUChart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1A2030"/>
                </a:solidFill>
              </a:rPr>
              <a:t>/ renderCChart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1A2030"/>
                </a:solidFill>
              </a:rPr>
              <a:t>同一組 plugin 全部套用</a:t>
            </a:r>
            <a:endParaRPr lang="en-US" sz="7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030"/>
                </a:solidFill>
              </a:rPr>
              <a:t>⑧ Batch 彙整表（含風險 / 時段篩選）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365760" y="52120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6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list_batches_filtered(line_id, date, risk_levels, start_time, end_time)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85039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88696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478"/>
                </a:solidFill>
              </a:rPr>
              <a:t>風險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68680" y="868680"/>
            <a:ext cx="566928" cy="182880"/>
          </a:xfrm>
          <a:prstGeom prst="roundRect">
            <a:avLst>
              <a:gd name="adj" fmla="val 50000"/>
            </a:avLst>
          </a:prstGeom>
          <a:solidFill>
            <a:srgbClr val="D42B22"/>
          </a:solidFill>
          <a:ln w="12700">
            <a:solidFill>
              <a:srgbClr val="D42B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868680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42B22"/>
                </a:solidFill>
              </a:rPr>
              <a:t>高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554480" y="868680"/>
            <a:ext cx="566928" cy="182880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54480" y="868680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B8860B"/>
                </a:solidFill>
              </a:rPr>
              <a:t>中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240280" y="868680"/>
            <a:ext cx="566928" cy="182880"/>
          </a:xfrm>
          <a:prstGeom prst="roundRect">
            <a:avLst>
              <a:gd name="adj" fmla="val 50000"/>
            </a:avLst>
          </a:prstGeom>
          <a:solidFill>
            <a:srgbClr val="1A9E3A"/>
          </a:solidFill>
          <a:ln w="12700">
            <a:solidFill>
              <a:srgbClr val="1A9E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40280" y="868680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9E3A"/>
                </a:solidFill>
              </a:rPr>
              <a:t>低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971800" y="88696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478"/>
                </a:solidFill>
              </a:rPr>
              <a:t>時段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337560" y="868680"/>
            <a:ext cx="77724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86868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2030"/>
                </a:solidFill>
              </a:rPr>
              <a:t>00:00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133088" y="886968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478"/>
                </a:solidFill>
              </a:rPr>
              <a:t>~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315968" y="868680"/>
            <a:ext cx="77724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15968" y="86868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2030"/>
                </a:solidFill>
              </a:rPr>
              <a:t>23:59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212080" y="868680"/>
            <a:ext cx="640080" cy="182880"/>
          </a:xfrm>
          <a:prstGeom prst="roundRect">
            <a:avLst>
              <a:gd name="adj" fmla="val 25000"/>
            </a:avLst>
          </a:prstGeom>
          <a:solidFill>
            <a:srgbClr val="F0F2F5"/>
          </a:solidFill>
          <a:ln w="12700">
            <a:solidFill>
              <a:srgbClr val="D0D7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12080" y="86868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478"/>
                </a:solidFill>
              </a:rPr>
              <a:t>重設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20040" y="1280160"/>
            <a:ext cx="8503920" cy="1536192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1280160"/>
            <a:ext cx="8503920" cy="256032"/>
          </a:xfrm>
          <a:prstGeom prst="rect">
            <a:avLst/>
          </a:prstGeom>
          <a:solidFill>
            <a:srgbClr val="F0F4FF"/>
          </a:solidFill>
          <a:ln w="12700">
            <a:solidFill>
              <a:srgbClr val="D0D7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131673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A6478"/>
                </a:solidFill>
              </a:rPr>
              <a:t>Batch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508760" y="131673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A6478"/>
                </a:solidFill>
              </a:rPr>
              <a:t>開始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331720" y="1316736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A6478"/>
                </a:solidFill>
              </a:rPr>
              <a:t>件數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971800" y="131673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A6478"/>
                </a:solidFill>
              </a:rPr>
              <a:t>預測 OK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794760" y="131673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A6478"/>
                </a:solidFill>
              </a:rPr>
              <a:t>預測 NG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617720" y="1316736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A6478"/>
                </a:solidFill>
              </a:rPr>
              <a:t>風險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257800" y="131673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A6478"/>
                </a:solidFill>
              </a:rPr>
              <a:t>主因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20040" y="1554480"/>
            <a:ext cx="8503920" cy="310896"/>
          </a:xfrm>
          <a:prstGeom prst="rect">
            <a:avLst/>
          </a:prstGeom>
          <a:solidFill>
            <a:srgbClr val="F9FAFC"/>
          </a:solidFill>
          <a:ln w="12700">
            <a:solidFill>
              <a:srgbClr val="D0D7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160020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030"/>
                </a:solidFill>
              </a:rPr>
              <a:t>B-002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508760" y="1600200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030"/>
                </a:solidFill>
              </a:rPr>
              <a:t>12:00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2331720" y="1600200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030"/>
                </a:solidFill>
              </a:rPr>
              <a:t>76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2971800" y="1600200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030"/>
                </a:solidFill>
              </a:rPr>
              <a:t>88.5%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794760" y="1600200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030"/>
                </a:solidFill>
              </a:rPr>
              <a:t>9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617720" y="1609344"/>
            <a:ext cx="530352" cy="182880"/>
          </a:xfrm>
          <a:prstGeom prst="roundRect">
            <a:avLst>
              <a:gd name="adj" fmla="val 30000"/>
            </a:avLst>
          </a:prstGeom>
          <a:solidFill>
            <a:srgbClr val="D42B22"/>
          </a:solidFill>
          <a:ln w="12700">
            <a:solidFill>
              <a:srgbClr val="D42B2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17720" y="1609344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42B22"/>
                </a:solidFill>
              </a:rPr>
              <a:t>高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257800" y="160020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030"/>
                </a:solidFill>
              </a:rPr>
              <a:t>Station 2 壓力不穩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320040" y="1883664"/>
            <a:ext cx="85039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1480" y="192938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030"/>
                </a:solidFill>
              </a:rPr>
              <a:t>B-001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1508760" y="192938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030"/>
                </a:solidFill>
              </a:rPr>
              <a:t>10:00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2331720" y="192938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030"/>
                </a:solidFill>
              </a:rPr>
              <a:t>80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2971800" y="192938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030"/>
                </a:solidFill>
              </a:rPr>
              <a:t>92.1%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3794760" y="192938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030"/>
                </a:solidFill>
              </a:rPr>
              <a:t>6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617720" y="1938528"/>
            <a:ext cx="530352" cy="182880"/>
          </a:xfrm>
          <a:prstGeom prst="roundRect">
            <a:avLst>
              <a:gd name="adj" fmla="val 30000"/>
            </a:avLst>
          </a:prstGeom>
          <a:solidFill>
            <a:srgbClr val="1A9E3A"/>
          </a:solidFill>
          <a:ln w="12700">
            <a:solidFill>
              <a:srgbClr val="1A9E3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617720" y="1938528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9E3A"/>
                </a:solidFill>
              </a:rPr>
              <a:t>低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5257800" y="192938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030"/>
                </a:solidFill>
              </a:rPr>
              <a:t>Normal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320040" y="2212848"/>
            <a:ext cx="8503920" cy="310896"/>
          </a:xfrm>
          <a:prstGeom prst="rect">
            <a:avLst/>
          </a:prstGeom>
          <a:solidFill>
            <a:srgbClr val="F9FAFC"/>
          </a:solidFill>
          <a:ln w="12700">
            <a:solidFill>
              <a:srgbClr val="D0D7E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11480" y="225856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030"/>
                </a:solidFill>
              </a:rPr>
              <a:t>B-003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1508760" y="225856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030"/>
                </a:solidFill>
              </a:rPr>
              <a:t>14:00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2331720" y="225856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030"/>
                </a:solidFill>
              </a:rPr>
              <a:t>68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2971800" y="225856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030"/>
                </a:solidFill>
              </a:rPr>
              <a:t>90.3%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3794760" y="225856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030"/>
                </a:solidFill>
              </a:rPr>
              <a:t>7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4617720" y="2267712"/>
            <a:ext cx="530352" cy="182880"/>
          </a:xfrm>
          <a:prstGeom prst="roundRect">
            <a:avLst>
              <a:gd name="adj" fmla="val 30000"/>
            </a:avLst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617720" y="2267712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B8860B"/>
                </a:solidFill>
              </a:rPr>
              <a:t>中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5257800" y="225856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030"/>
                </a:solidFill>
              </a:rPr>
              <a:t>Station 3 噴幅偏差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283464" y="768096"/>
            <a:ext cx="8577072" cy="2084832"/>
          </a:xfrm>
          <a:prstGeom prst="rect">
            <a:avLst/>
          </a:prstGeom>
          <a:ln w="22860">
            <a:solidFill>
              <a:srgbClr val="1A6EF5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20040" y="2971800"/>
            <a:ext cx="2048256" cy="1060704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320040" y="2971800"/>
            <a:ext cx="54864" cy="1060704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02336" y="302666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2B4A"/>
                </a:solidFill>
              </a:rPr>
              <a:t>1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630936" y="3017520"/>
            <a:ext cx="1664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030"/>
                </a:solidFill>
              </a:rPr>
              <a:t>SQL 動態篩選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402336" y="3255264"/>
            <a:ext cx="1892808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A6478"/>
                </a:solidFill>
              </a:rPr>
              <a:t>batch_run JOIN qc_result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5A6478"/>
                </a:solidFill>
              </a:rPr>
              <a:t>JOIN ml_prediction_result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5A6478"/>
                </a:solidFill>
              </a:rPr>
              <a:t>WHERE risk_levels = ANY($)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5A6478"/>
                </a:solidFill>
              </a:rPr>
              <a:t>AND start_time BETWEEN $ AND $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2267712" y="3438144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8"/>
                </a:solidFill>
              </a:rPr>
              <a:t>▶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2514600" y="2971800"/>
            <a:ext cx="2048256" cy="1060704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2514600" y="2971800"/>
            <a:ext cx="54864" cy="1060704"/>
          </a:xfrm>
          <a:prstGeom prst="rect">
            <a:avLst/>
          </a:prstGeom>
          <a:solidFill>
            <a:srgbClr val="1C5F8A"/>
          </a:solidFill>
          <a:ln w="12700">
            <a:solidFill>
              <a:srgbClr val="1C5F8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596896" y="302666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5F8A"/>
                </a:solidFill>
              </a:rPr>
              <a:t>2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2825496" y="3017520"/>
            <a:ext cx="1664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030"/>
                </a:solidFill>
              </a:rPr>
              <a:t>risk_level 計算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2596896" y="3255264"/>
            <a:ext cx="1892808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A6478"/>
                </a:solidFill>
              </a:rPr>
              <a:t>predicted_ok&lt;84 OR ng≥35 → High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5A6478"/>
                </a:solidFill>
              </a:rPr>
              <a:t>predicted_ok&lt;90 OR ng≥20 → Medium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5A6478"/>
                </a:solidFill>
              </a:rPr>
              <a:t>else → Low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5A6478"/>
                </a:solidFill>
              </a:rPr>
              <a:t>(前後端共識)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4462272" y="3438144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8"/>
                </a:solidFill>
              </a:rPr>
              <a:t>▶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4709160" y="2971800"/>
            <a:ext cx="2048256" cy="1060704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4709160" y="2971800"/>
            <a:ext cx="54864" cy="1060704"/>
          </a:xfrm>
          <a:prstGeom prst="rect">
            <a:avLst/>
          </a:prstGeom>
          <a:solidFill>
            <a:srgbClr val="1A6EF5"/>
          </a:solidFill>
          <a:ln w="12700">
            <a:solidFill>
              <a:srgbClr val="1A6EF5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791456" y="302666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6EF5"/>
                </a:solidFill>
              </a:rPr>
              <a:t>3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5020056" y="3017520"/>
            <a:ext cx="1664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030"/>
                </a:solidFill>
              </a:rPr>
              <a:t>API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4791456" y="3255264"/>
            <a:ext cx="1892808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A6478"/>
                </a:solidFill>
              </a:rPr>
              <a:t>GET /batches?date=today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5A6478"/>
                </a:solidFill>
              </a:rPr>
              <a:t>&amp;risk=High,Medium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5A6478"/>
                </a:solidFill>
              </a:rPr>
              <a:t>&amp;start=09:00&amp;end=15:00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5A6478"/>
                </a:solidFill>
              </a:rPr>
              <a:t>→ {total, rows[]}</a:t>
            </a:r>
            <a:endParaRPr lang="en-US" sz="750" dirty="0"/>
          </a:p>
        </p:txBody>
      </p:sp>
      <p:sp>
        <p:nvSpPr>
          <p:cNvPr id="74" name="Text 72"/>
          <p:cNvSpPr/>
          <p:nvPr/>
        </p:nvSpPr>
        <p:spPr>
          <a:xfrm>
            <a:off x="6656832" y="3438144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8"/>
                </a:solidFill>
              </a:rPr>
              <a:t>▶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6903720" y="2971800"/>
            <a:ext cx="2048256" cy="1060704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6" name="Shape 74"/>
          <p:cNvSpPr/>
          <p:nvPr/>
        </p:nvSpPr>
        <p:spPr>
          <a:xfrm>
            <a:off x="6903720" y="2971800"/>
            <a:ext cx="54864" cy="1060704"/>
          </a:xfrm>
          <a:prstGeom prst="rect">
            <a:avLst/>
          </a:prstGeom>
          <a:solidFill>
            <a:srgbClr val="1A9E3A"/>
          </a:solidFill>
          <a:ln w="12700">
            <a:solidFill>
              <a:srgbClr val="1A9E3A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986016" y="302666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9E3A"/>
                </a:solidFill>
              </a:rPr>
              <a:t>4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7214616" y="3017520"/>
            <a:ext cx="1664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030"/>
                </a:solidFill>
              </a:rPr>
              <a:t>前端 filter 邏輯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6986016" y="3255264"/>
            <a:ext cx="1892808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A6478"/>
                </a:solidFill>
              </a:rPr>
              <a:t>batchFilter.risks Set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5A6478"/>
                </a:solidFill>
              </a:rPr>
              <a:t>空 Set = 全部顯示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5A6478"/>
                </a:solidFill>
              </a:rPr>
              <a:t>非空 = 加法選取（只顯示所選）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5A6478"/>
                </a:solidFill>
              </a:rPr>
              <a:t>bindBatchFilters()</a:t>
            </a:r>
            <a:endParaRPr lang="en-US" sz="750" dirty="0"/>
          </a:p>
        </p:txBody>
      </p:sp>
      <p:sp>
        <p:nvSpPr>
          <p:cNvPr id="80" name="Shape 78"/>
          <p:cNvSpPr/>
          <p:nvPr/>
        </p:nvSpPr>
        <p:spPr>
          <a:xfrm>
            <a:off x="320040" y="4133088"/>
            <a:ext cx="8503920" cy="749808"/>
          </a:xfrm>
          <a:prstGeom prst="rect">
            <a:avLst/>
          </a:prstGeom>
          <a:solidFill>
            <a:srgbClr val="F0FFF4"/>
          </a:solidFill>
          <a:ln w="12700">
            <a:solidFill>
              <a:srgbClr val="A0D8B8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02920" y="418795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9E3A"/>
                </a:solidFill>
              </a:rPr>
              <a:t>篩選邏輯設計說明：</a:t>
            </a:r>
            <a:endParaRPr lang="en-US" sz="950" dirty="0"/>
          </a:p>
        </p:txBody>
      </p:sp>
      <p:sp>
        <p:nvSpPr>
          <p:cNvPr id="82" name="Text 80"/>
          <p:cNvSpPr/>
          <p:nvPr/>
        </p:nvSpPr>
        <p:spPr>
          <a:xfrm>
            <a:off x="502920" y="438912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030"/>
                </a:solidFill>
              </a:rPr>
              <a:t>前端 pill 採「加法選取」設計：未選任何 = 全部顯示；點擊某 pill 後 = 只顯示該分類（Set 操作）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A2030"/>
                </a:solidFill>
              </a:rPr>
              <a:t>和傳統「取消篩選」相反，更符合主管「我想聚焦在高風險批次」的直覺。後端對應的 risk_levels 參數也是 nullable list（null = 不過濾）。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030"/>
                </a:solidFill>
              </a:rPr>
              <a:t>⑨ 待處理警示 Drawer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365760" y="52120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6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list_pending_alerts()  /  acknowledge_alert()  /  trigger_alert()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3840480" y="749808"/>
            <a:ext cx="4983480" cy="3913632"/>
          </a:xfrm>
          <a:prstGeom prst="rect">
            <a:avLst/>
          </a:prstGeom>
          <a:solidFill>
            <a:srgbClr val="FFFFFF"/>
          </a:solidFill>
          <a:ln w="19050">
            <a:solidFill>
              <a:srgbClr val="D0D7E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023360" y="8686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030"/>
                </a:solidFill>
              </a:rPr>
              <a:t>待處理警示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430768" y="877824"/>
            <a:ext cx="274320" cy="256032"/>
          </a:xfrm>
          <a:prstGeom prst="roundRect">
            <a:avLst>
              <a:gd name="adj" fmla="val 21429"/>
            </a:avLst>
          </a:prstGeom>
          <a:solidFill>
            <a:srgbClr val="F0F2F5"/>
          </a:solidFill>
          <a:ln w="12700">
            <a:solidFill>
              <a:srgbClr val="D0D7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30768" y="877824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478"/>
                </a:solidFill>
              </a:rPr>
              <a:t>✕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931920" y="1243584"/>
            <a:ext cx="4800600" cy="1024128"/>
          </a:xfrm>
          <a:prstGeom prst="rect">
            <a:avLst/>
          </a:prstGeom>
          <a:solidFill>
            <a:srgbClr val="FFF2F2"/>
          </a:solidFill>
          <a:ln w="12700">
            <a:solidFill>
              <a:srgbClr val="D42B2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41648" y="1362456"/>
            <a:ext cx="201168" cy="201168"/>
          </a:xfrm>
          <a:prstGeom prst="ellipse">
            <a:avLst/>
          </a:prstGeom>
          <a:solidFill>
            <a:srgbClr val="D42B22"/>
          </a:solidFill>
          <a:ln w="12700">
            <a:solidFill>
              <a:srgbClr val="D42B2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15968" y="133502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030"/>
                </a:solidFill>
              </a:rPr>
              <a:t>Station 2 — 高風險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138160" y="133502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478"/>
                </a:solidFill>
              </a:rPr>
              <a:t>14:23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041648" y="159105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478"/>
                </a:solidFill>
              </a:rPr>
              <a:t>噴塗壓力不穩定，持續低於 2.0 bar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7589520" y="1901952"/>
            <a:ext cx="1024128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D0D7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89520" y="19019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A6478"/>
                </a:solidFill>
              </a:rPr>
              <a:t>標記已處理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931920" y="2414016"/>
            <a:ext cx="4800600" cy="1024128"/>
          </a:xfrm>
          <a:prstGeom prst="rect">
            <a:avLst/>
          </a:prstGeom>
          <a:solidFill>
            <a:srgbClr val="FFFBF0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041648" y="2532888"/>
            <a:ext cx="201168" cy="201168"/>
          </a:xfrm>
          <a:prstGeom prst="ellipse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15968" y="250545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030"/>
                </a:solidFill>
              </a:rPr>
              <a:t>Station 3 — 中風險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138160" y="250545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478"/>
                </a:solidFill>
              </a:rPr>
              <a:t>13:50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041648" y="276148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478"/>
                </a:solidFill>
              </a:rPr>
              <a:t>噴幅偏差 +15mm，邊緣覆蓋率下降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7589520" y="3072384"/>
            <a:ext cx="1024128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D0D7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0" y="3072384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A6478"/>
                </a:solidFill>
              </a:rPr>
              <a:t>標記已處理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3803904" y="713232"/>
            <a:ext cx="5056632" cy="3986784"/>
          </a:xfrm>
          <a:prstGeom prst="rect">
            <a:avLst/>
          </a:prstGeom>
          <a:ln w="22860">
            <a:solidFill>
              <a:srgbClr val="1A6EF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" y="804672"/>
            <a:ext cx="333756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804672"/>
            <a:ext cx="54864" cy="804672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2336" y="85953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2B4A"/>
                </a:solidFill>
              </a:rPr>
              <a:t>1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30936" y="850392"/>
            <a:ext cx="2953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030"/>
                </a:solidFill>
              </a:rPr>
              <a:t>list_pending_alerts()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02336" y="1088136"/>
            <a:ext cx="318211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A6478"/>
                </a:solidFill>
              </a:rPr>
              <a:t>SELECT * FROM alert_log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5A6478"/>
                </a:solidFill>
              </a:rPr>
              <a:t>WHERE line_id=$1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5A6478"/>
                </a:solidFill>
              </a:rPr>
              <a:t>AND acknowledged_at IS NULL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5A6478"/>
                </a:solidFill>
              </a:rPr>
              <a:t>ORDER BY triggered_at DESC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320040" y="1691640"/>
            <a:ext cx="333756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0040" y="1691640"/>
            <a:ext cx="54864" cy="804672"/>
          </a:xfrm>
          <a:prstGeom prst="rect">
            <a:avLst/>
          </a:prstGeom>
          <a:solidFill>
            <a:srgbClr val="1C5F8A"/>
          </a:solidFill>
          <a:ln w="12700">
            <a:solidFill>
              <a:srgbClr val="1C5F8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02336" y="174650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5F8A"/>
                </a:solidFill>
              </a:rPr>
              <a:t>2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30936" y="1737360"/>
            <a:ext cx="2953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030"/>
                </a:solidFill>
              </a:rPr>
              <a:t>多型引用 source_type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02336" y="1975104"/>
            <a:ext cx="318211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A6478"/>
                </a:solidFill>
              </a:rPr>
              <a:t>CASE source_type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5A6478"/>
                </a:solidFill>
              </a:rPr>
              <a:t>  'diagnosis' → diagnosis_result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5A6478"/>
                </a:solidFill>
              </a:rPr>
              <a:t>  'ml_prediction' → ml_prediction_result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5A6478"/>
                </a:solidFill>
              </a:rPr>
              <a:t>  'qc' → qc_result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5A6478"/>
                </a:solidFill>
              </a:rPr>
              <a:t>END AS source_detail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320040" y="2578608"/>
            <a:ext cx="333756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0040" y="2578608"/>
            <a:ext cx="54864" cy="804672"/>
          </a:xfrm>
          <a:prstGeom prst="rect">
            <a:avLst/>
          </a:prstGeom>
          <a:solidFill>
            <a:srgbClr val="1A6EF5"/>
          </a:solidFill>
          <a:ln w="12700">
            <a:solidFill>
              <a:srgbClr val="1A6EF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02336" y="263347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6EF5"/>
                </a:solidFill>
              </a:rPr>
              <a:t>3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30936" y="2624328"/>
            <a:ext cx="2953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030"/>
                </a:solidFill>
              </a:rPr>
              <a:t>acknowledge_alert()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02336" y="2862072"/>
            <a:ext cx="318211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A6478"/>
                </a:solidFill>
              </a:rPr>
              <a:t>POST /alerts/{id}/acknowledge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5A6478"/>
                </a:solidFill>
              </a:rPr>
              <a:t>body: {operator_id}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5A6478"/>
                </a:solidFill>
              </a:rPr>
              <a:t>→ UPDATE acknowledged_at=now()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5A6478"/>
                </a:solidFill>
              </a:rPr>
              <a:t>→ renderAlerts() 同步更新 badge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320040" y="3465576"/>
            <a:ext cx="333756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20040" y="3465576"/>
            <a:ext cx="54864" cy="804672"/>
          </a:xfrm>
          <a:prstGeom prst="rect">
            <a:avLst/>
          </a:prstGeom>
          <a:solidFill>
            <a:srgbClr val="1A9E3A"/>
          </a:solidFill>
          <a:ln w="12700">
            <a:solidFill>
              <a:srgbClr val="1A9E3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02336" y="352044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9E3A"/>
                </a:solidFill>
              </a:rPr>
              <a:t>4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30936" y="3511296"/>
            <a:ext cx="2953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030"/>
                </a:solidFill>
              </a:rPr>
              <a:t>trigger_alert()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02336" y="3749040"/>
            <a:ext cx="318211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A6478"/>
                </a:solidFill>
              </a:rPr>
              <a:t>由 diagnosis engine / ML 呼叫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5A6478"/>
                </a:solidFill>
              </a:rPr>
              <a:t>INSERT INTO alert_log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5A6478"/>
                </a:solidFill>
              </a:rPr>
              <a:t>(source_type, source_id 為多型 FK)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5A6478"/>
                </a:solidFill>
              </a:rPr>
              <a:t>→ 前端 badge 數字 + 1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1755648" y="1563624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478"/>
                </a:solidFill>
              </a:rPr>
              <a:t>▼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755648" y="2450592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478"/>
                </a:solidFill>
              </a:rPr>
              <a:t>▼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755648" y="333756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478"/>
                </a:solidFill>
              </a:rPr>
              <a:t>▼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030"/>
                </a:solidFill>
              </a:rPr>
              <a:t>⑩ Header 全域設定  ＆  ⑪ 預測準確度 Drawer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320040" y="594360"/>
            <a:ext cx="8503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75488" y="722376"/>
            <a:ext cx="146304" cy="146304"/>
          </a:xfrm>
          <a:prstGeom prst="ellipse">
            <a:avLst/>
          </a:prstGeom>
          <a:solidFill>
            <a:srgbClr val="1A9E3A"/>
          </a:solidFill>
          <a:ln w="12700">
            <a:solidFill>
              <a:srgbClr val="1A9E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68580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030"/>
                </a:solidFill>
              </a:rPr>
              <a:t>SprayLine 生產監控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0" y="658368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0" y="658368"/>
            <a:ext cx="420624" cy="475488"/>
          </a:xfrm>
          <a:prstGeom prst="rect">
            <a:avLst/>
          </a:prstGeom>
          <a:solidFill>
            <a:srgbClr val="F5F7FA"/>
          </a:solidFill>
          <a:ln w="12700">
            <a:solidFill>
              <a:srgbClr val="D0D7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0" y="713232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A6478"/>
                </a:solidFill>
              </a:rPr>
              <a:t>−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43200" y="896112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5A6478"/>
                </a:solidFill>
              </a:rPr>
              <a:t>20m</a:t>
            </a:r>
            <a:endParaRPr lang="en-US" sz="600" dirty="0"/>
          </a:p>
        </p:txBody>
      </p:sp>
      <p:sp>
        <p:nvSpPr>
          <p:cNvPr id="10" name="Shape 8"/>
          <p:cNvSpPr/>
          <p:nvPr/>
        </p:nvSpPr>
        <p:spPr>
          <a:xfrm>
            <a:off x="3200400" y="658368"/>
            <a:ext cx="420624" cy="475488"/>
          </a:xfrm>
          <a:prstGeom prst="rect">
            <a:avLst/>
          </a:prstGeom>
          <a:solidFill>
            <a:srgbClr val="F5F7FA"/>
          </a:solidFill>
          <a:ln w="12700">
            <a:solidFill>
              <a:srgbClr val="D0D7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713232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A6478"/>
                </a:solidFill>
              </a:rPr>
              <a:t>−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00400" y="896112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5A6478"/>
                </a:solidFill>
              </a:rPr>
              <a:t>batch</a:t>
            </a:r>
            <a:endParaRPr lang="en-US" sz="600" dirty="0"/>
          </a:p>
        </p:txBody>
      </p:sp>
      <p:sp>
        <p:nvSpPr>
          <p:cNvPr id="13" name="Shape 11"/>
          <p:cNvSpPr/>
          <p:nvPr/>
        </p:nvSpPr>
        <p:spPr>
          <a:xfrm>
            <a:off x="3639312" y="658368"/>
            <a:ext cx="640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39312" y="71323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14:40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639312" y="969264"/>
            <a:ext cx="640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5A6478"/>
                </a:solidFill>
              </a:rPr>
              <a:t>Timestep</a:t>
            </a:r>
            <a:endParaRPr lang="en-US" sz="600" dirty="0"/>
          </a:p>
        </p:txBody>
      </p:sp>
      <p:sp>
        <p:nvSpPr>
          <p:cNvPr id="16" name="Shape 14"/>
          <p:cNvSpPr/>
          <p:nvPr/>
        </p:nvSpPr>
        <p:spPr>
          <a:xfrm>
            <a:off x="4279392" y="658368"/>
            <a:ext cx="420624" cy="475488"/>
          </a:xfrm>
          <a:prstGeom prst="rect">
            <a:avLst/>
          </a:prstGeom>
          <a:solidFill>
            <a:srgbClr val="F5F7FA"/>
          </a:solidFill>
          <a:ln w="12700">
            <a:solidFill>
              <a:srgbClr val="D0D7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79392" y="713232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A6478"/>
                </a:solidFill>
              </a:rPr>
              <a:t>+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279392" y="896112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5A6478"/>
                </a:solidFill>
              </a:rPr>
              <a:t>20m</a:t>
            </a:r>
            <a:endParaRPr lang="en-US" sz="600" dirty="0"/>
          </a:p>
        </p:txBody>
      </p:sp>
      <p:sp>
        <p:nvSpPr>
          <p:cNvPr id="19" name="Shape 17"/>
          <p:cNvSpPr/>
          <p:nvPr/>
        </p:nvSpPr>
        <p:spPr>
          <a:xfrm>
            <a:off x="4736592" y="658368"/>
            <a:ext cx="420624" cy="475488"/>
          </a:xfrm>
          <a:prstGeom prst="rect">
            <a:avLst/>
          </a:prstGeom>
          <a:solidFill>
            <a:srgbClr val="F5F7FA"/>
          </a:solidFill>
          <a:ln w="12700">
            <a:solidFill>
              <a:srgbClr val="D0D7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36592" y="713232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A6478"/>
                </a:solidFill>
              </a:rPr>
              <a:t>+ 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736592" y="896112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5A6478"/>
                </a:solidFill>
              </a:rPr>
              <a:t>batch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5230368" y="69494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A6478"/>
                </a:solidFill>
              </a:rPr>
              <a:t>更新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5614416" y="685800"/>
            <a:ext cx="713232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32704" y="694944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030"/>
                </a:solidFill>
              </a:rPr>
              <a:t>1 小時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419088" y="69494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A6478"/>
                </a:solidFill>
              </a:rPr>
              <a:t>字級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6803136" y="685800"/>
            <a:ext cx="713232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21424" y="694944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030"/>
                </a:solidFill>
              </a:rPr>
              <a:t>標準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83464" y="557784"/>
            <a:ext cx="8577072" cy="731520"/>
          </a:xfrm>
          <a:prstGeom prst="rect">
            <a:avLst/>
          </a:prstGeom>
          <a:ln w="22860">
            <a:solidFill>
              <a:srgbClr val="1A6EF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" y="1389888"/>
            <a:ext cx="85039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02920" y="1463040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030"/>
                </a:solidFill>
              </a:rPr>
              <a:t>Header 三組全域工具（純前端，不對接後端）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02920" y="164744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2030"/>
                </a:solidFill>
              </a:rPr>
              <a:t>• 時間控制 [-batch][-20m][HH:MM][+20m][+batch] — 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02920" y="180136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478"/>
                </a:solidFill>
              </a:rPr>
              <a:t>  向後端要資料的 timestep 依據；nowHour() 以此 timestep 為中心，makeChartLabels() 產生 9 個 hourKey 對齊現在時間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02920" y="1947333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2030"/>
                </a:solidFill>
              </a:rPr>
              <a:t>• 更新間隔 下拉（30m / 1h / 2h） — 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75488" y="205282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478"/>
                </a:solidFill>
              </a:rPr>
              <a:t>  setPollInterval() 控制向後端 polling 的頻率；對齊現在時間，每次 poll 以最新 timestep 查詢 DB；未來可改 WebSocket / SSE（Future）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02920" y="220370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2030"/>
                </a:solidFill>
              </a:rPr>
              <a:t>• 字級 下拉（標準/小/中/大） — 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01227" y="234543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478"/>
                </a:solidFill>
              </a:rPr>
              <a:t>  html[data-fs] → CSS var --app-font-scale → 47 個元素用 calc(px * var) 全局縮放；Chart.defaults.font.size 同步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20040" y="2651760"/>
            <a:ext cx="850392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502920" y="27249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030"/>
                </a:solidFill>
              </a:rPr>
              <a:t>⑪ 預測準確度 Drawer — get_prediction_accuracy(line_id, date)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02920" y="297180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6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/api/v1/lines/{id}/prediction-accuracy?date=today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502920" y="3218688"/>
            <a:ext cx="1956816" cy="1426464"/>
          </a:xfrm>
          <a:prstGeom prst="rect">
            <a:avLst/>
          </a:prstGeom>
          <a:solidFill>
            <a:srgbClr val="F5F7FA"/>
          </a:solidFill>
          <a:ln w="12700">
            <a:solidFill>
              <a:srgbClr val="D0D7E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594360" y="3291840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478"/>
                </a:solidFill>
              </a:rPr>
              <a:t>昨日 Predicted OK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94360" y="3611880"/>
            <a:ext cx="1773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6EF5"/>
                </a:solidFill>
              </a:rPr>
              <a:t>91.4%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594360" y="4059936"/>
            <a:ext cx="17739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BA3B0"/>
                </a:solidFill>
              </a:rPr>
              <a:t>SQL: JOIN qc_result ↔ ml_prediction_result ON part_uuid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2624328" y="3218688"/>
            <a:ext cx="1956816" cy="1426464"/>
          </a:xfrm>
          <a:prstGeom prst="rect">
            <a:avLst/>
          </a:prstGeom>
          <a:solidFill>
            <a:srgbClr val="F5F7FA"/>
          </a:solidFill>
          <a:ln w="12700">
            <a:solidFill>
              <a:srgbClr val="D0D7E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2715768" y="3291840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478"/>
                </a:solidFill>
              </a:rPr>
              <a:t>昨日 Actual OK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2715768" y="3611880"/>
            <a:ext cx="1773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9E3A"/>
                </a:solidFill>
              </a:rPr>
              <a:t>92.6%</a:t>
            </a:r>
            <a:endParaRPr lang="en-US" sz="2000" dirty="0"/>
          </a:p>
        </p:txBody>
      </p:sp>
      <p:sp>
        <p:nvSpPr>
          <p:cNvPr id="47" name="Text 45"/>
          <p:cNvSpPr/>
          <p:nvPr/>
        </p:nvSpPr>
        <p:spPr>
          <a:xfrm>
            <a:off x="2715768" y="4059936"/>
            <a:ext cx="17739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BA3B0"/>
                </a:solidFill>
              </a:rPr>
              <a:t>SQL: JOIN qc_result ↔ ml_prediction_result ON part_uuid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4745736" y="3218688"/>
            <a:ext cx="1956816" cy="1426464"/>
          </a:xfrm>
          <a:prstGeom prst="rect">
            <a:avLst/>
          </a:prstGeom>
          <a:solidFill>
            <a:srgbClr val="F5F7FA"/>
          </a:solidFill>
          <a:ln w="12700">
            <a:solidFill>
              <a:srgbClr val="D0D7E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4837176" y="3291840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478"/>
                </a:solidFill>
              </a:rPr>
              <a:t>預測誤差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4837176" y="3611880"/>
            <a:ext cx="1773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8860B"/>
                </a:solidFill>
              </a:rPr>
              <a:t>-1.2 pts</a:t>
            </a:r>
            <a:endParaRPr lang="en-US" sz="2000" dirty="0"/>
          </a:p>
        </p:txBody>
      </p:sp>
      <p:sp>
        <p:nvSpPr>
          <p:cNvPr id="51" name="Text 49"/>
          <p:cNvSpPr/>
          <p:nvPr/>
        </p:nvSpPr>
        <p:spPr>
          <a:xfrm>
            <a:off x="4837176" y="4059936"/>
            <a:ext cx="17739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BA3B0"/>
                </a:solidFill>
              </a:rPr>
              <a:t>SQL: JOIN qc_result ↔ ml_prediction_result ON part_uuid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6867144" y="3218688"/>
            <a:ext cx="1956816" cy="1426464"/>
          </a:xfrm>
          <a:prstGeom prst="rect">
            <a:avLst/>
          </a:prstGeom>
          <a:solidFill>
            <a:srgbClr val="F5F7FA"/>
          </a:solidFill>
          <a:ln w="12700">
            <a:solidFill>
              <a:srgbClr val="D0D7E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6958584" y="3291840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478"/>
                </a:solidFill>
              </a:rPr>
              <a:t>模型準確度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6958584" y="3611880"/>
            <a:ext cx="1773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9E3A"/>
                </a:solidFill>
              </a:rPr>
              <a:t>94.8%</a:t>
            </a:r>
            <a:endParaRPr lang="en-US" sz="2000" dirty="0"/>
          </a:p>
        </p:txBody>
      </p:sp>
      <p:sp>
        <p:nvSpPr>
          <p:cNvPr id="55" name="Text 53"/>
          <p:cNvSpPr/>
          <p:nvPr/>
        </p:nvSpPr>
        <p:spPr>
          <a:xfrm>
            <a:off x="6958584" y="4059936"/>
            <a:ext cx="17739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BA3B0"/>
                </a:solidFill>
              </a:rPr>
              <a:t>SQL: JOIN qc_result ↔ ml_prediction_result ON part_uuid</a:t>
            </a:r>
            <a:endParaRPr lang="en-US" sz="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030"/>
                </a:solidFill>
              </a:rPr>
              <a:t>DB Schema v2 — 22 張表與 UI 元件對照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274320" y="658368"/>
            <a:ext cx="2816352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74320" y="658368"/>
            <a:ext cx="2816352" cy="292608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704088"/>
            <a:ext cx="2670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Zone 1  設定主資料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347472" y="1389888"/>
            <a:ext cx="1234440" cy="0"/>
          </a:xfrm>
          <a:prstGeom prst="line">
            <a:avLst/>
          </a:prstGeom>
          <a:noFill/>
          <a:ln w="12700">
            <a:solidFill>
              <a:srgbClr val="D0D7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005840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5A6478"/>
                </a:solidFill>
              </a:rPr>
              <a:t>表：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640080" y="978408"/>
            <a:ext cx="2340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production_line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A2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recipe_master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A2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component_master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A2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production_line_config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47472" y="1435608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5A6478"/>
                </a:solidFill>
              </a:rPr>
              <a:t>UI：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640080" y="1408176"/>
            <a:ext cx="234086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030"/>
                </a:solidFill>
              </a:rPr>
              <a:t>所有 query 的 FK 驗證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A2030"/>
                </a:solidFill>
              </a:rPr>
              <a:t>OEE 基準 cycle_time_s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A2030"/>
                </a:solidFill>
              </a:rPr>
              <a:t>元件定義、閾值權重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3246120" y="658368"/>
            <a:ext cx="2816352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658368"/>
            <a:ext cx="2816352" cy="292608"/>
          </a:xfrm>
          <a:prstGeom prst="rect">
            <a:avLst/>
          </a:prstGeom>
          <a:solidFill>
            <a:srgbClr val="1C5F8A"/>
          </a:solidFill>
          <a:ln w="12700">
            <a:solidFill>
              <a:srgbClr val="1C5F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19272" y="704088"/>
            <a:ext cx="2670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Zone 2  生產品質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319272" y="1389888"/>
            <a:ext cx="1234440" cy="0"/>
          </a:xfrm>
          <a:prstGeom prst="line">
            <a:avLst/>
          </a:prstGeom>
          <a:noFill/>
          <a:ln w="12700">
            <a:solidFill>
              <a:srgbClr val="D0D7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19272" y="1005840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5A6478"/>
                </a:solidFill>
              </a:rPr>
              <a:t>表：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611880" y="978408"/>
            <a:ext cx="2340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batch_run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A2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part_history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A2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qc_result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A2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component_health_snapshot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319272" y="1435608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5A6478"/>
                </a:solidFill>
              </a:rPr>
              <a:t>UI：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3611880" y="1408176"/>
            <a:ext cx="234086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030"/>
                </a:solidFill>
              </a:rPr>
              <a:t>Batch 表、KPI NG/OK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A2030"/>
                </a:solidFill>
              </a:rPr>
              <a:t>Cycle Time、delta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A2030"/>
                </a:solidFill>
              </a:rPr>
              <a:t>良率並排、健康摘要卡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6217920" y="658368"/>
            <a:ext cx="2816352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17920" y="658368"/>
            <a:ext cx="2816352" cy="292608"/>
          </a:xfrm>
          <a:prstGeom prst="rect">
            <a:avLst/>
          </a:prstGeom>
          <a:solidFill>
            <a:srgbClr val="1A5A7A"/>
          </a:solidFill>
          <a:ln w="12700">
            <a:solidFill>
              <a:srgbClr val="1A5A7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91072" y="704088"/>
            <a:ext cx="2670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Zone 3  即時感測 ★ hypertable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291072" y="1389888"/>
            <a:ext cx="1234440" cy="0"/>
          </a:xfrm>
          <a:prstGeom prst="line">
            <a:avLst/>
          </a:prstGeom>
          <a:noFill/>
          <a:ln w="12700">
            <a:solidFill>
              <a:srgbClr val="D0D7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91072" y="1005840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5A6478"/>
                </a:solidFill>
              </a:rPr>
              <a:t>表：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6583680" y="978408"/>
            <a:ext cx="2340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runtime_window ★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A2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runtime_signal/reference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A2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runtime_metric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A2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robot_pose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A2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arm_telemetry_raw ★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6291072" y="1435608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5A6478"/>
                </a:solidFill>
              </a:rPr>
              <a:t>UI：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6583680" y="1408176"/>
            <a:ext cx="234086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030"/>
                </a:solidFill>
              </a:rPr>
              <a:t>站點卡片、時序 slider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A2030"/>
                </a:solidFill>
              </a:rPr>
              <a:t>元件 level 計算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A2030"/>
                </a:solidFill>
              </a:rPr>
              <a:t>composite_anomaly_score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A2030"/>
                </a:solidFill>
              </a:rPr>
              <a:t>噴幅 SVG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274320" y="2724912"/>
            <a:ext cx="2816352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74320" y="2724912"/>
            <a:ext cx="2816352" cy="292608"/>
          </a:xfrm>
          <a:prstGeom prst="rect">
            <a:avLst/>
          </a:prstGeom>
          <a:solidFill>
            <a:srgbClr val="1A6E5A"/>
          </a:solidFill>
          <a:ln w="12700">
            <a:solidFill>
              <a:srgbClr val="1A6E5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472" y="2770632"/>
            <a:ext cx="2670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Zone 4  知識診斷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47472" y="3456432"/>
            <a:ext cx="1234440" cy="0"/>
          </a:xfrm>
          <a:prstGeom prst="line">
            <a:avLst/>
          </a:prstGeom>
          <a:noFill/>
          <a:ln w="12700">
            <a:solidFill>
              <a:srgbClr val="D0D7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7472" y="307238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5A6478"/>
                </a:solidFill>
              </a:rPr>
              <a:t>表：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640080" y="3044952"/>
            <a:ext cx="2340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filter_threshold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A2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nozzle_threshold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A2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process_threshold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A2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diagnosis_result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347472" y="3502152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5A6478"/>
                </a:solidFill>
              </a:rPr>
              <a:t>UI：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640080" y="3474720"/>
            <a:ext cx="234086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030"/>
                </a:solidFill>
              </a:rPr>
              <a:t>元件詳情 baseline/diff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A2030"/>
                </a:solidFill>
              </a:rPr>
              <a:t>時序診斷 timeline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A2030"/>
                </a:solidFill>
              </a:rPr>
              <a:t>import_threshold_csvs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A2030"/>
                </a:solidFill>
              </a:rPr>
              <a:t>import_inferred_ttl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3246120" y="2724912"/>
            <a:ext cx="2816352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246120" y="2724912"/>
            <a:ext cx="2816352" cy="292608"/>
          </a:xfrm>
          <a:prstGeom prst="rect">
            <a:avLst/>
          </a:prstGeom>
          <a:solidFill>
            <a:srgbClr val="5A3A8A"/>
          </a:solidFill>
          <a:ln w="12700">
            <a:solidFill>
              <a:srgbClr val="5A3A8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19272" y="2770632"/>
            <a:ext cx="2670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Zone 5  ML 預測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319272" y="3456432"/>
            <a:ext cx="1234440" cy="0"/>
          </a:xfrm>
          <a:prstGeom prst="line">
            <a:avLst/>
          </a:prstGeom>
          <a:noFill/>
          <a:ln w="12700">
            <a:solidFill>
              <a:srgbClr val="D0D7E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19272" y="307238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5A6478"/>
                </a:solidFill>
              </a:rPr>
              <a:t>表：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3611880" y="3044952"/>
            <a:ext cx="2340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ml_feature_snapshot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A2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ml_prediction_result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A2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ml_inference_log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3319272" y="3502152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5A6478"/>
                </a:solidFill>
              </a:rPr>
              <a:t>UI：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3611880" y="3474720"/>
            <a:ext cx="234086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030"/>
                </a:solidFill>
              </a:rPr>
              <a:t>KPI predicted_ok_rate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A2030"/>
                </a:solidFill>
              </a:rPr>
              <a:t>品質趨勢 forecast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A2030"/>
                </a:solidFill>
              </a:rPr>
              <a:t>預測準確度 Drawer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6217920" y="2724912"/>
            <a:ext cx="2816352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217920" y="2724912"/>
            <a:ext cx="2816352" cy="292608"/>
          </a:xfrm>
          <a:prstGeom prst="rect">
            <a:avLst/>
          </a:prstGeom>
          <a:solidFill>
            <a:srgbClr val="8A3A3A"/>
          </a:solidFill>
          <a:ln w="12700">
            <a:solidFill>
              <a:srgbClr val="8A3A3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91072" y="2770632"/>
            <a:ext cx="2670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Zone 6  Alert / Twin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6291072" y="3456432"/>
            <a:ext cx="1234440" cy="0"/>
          </a:xfrm>
          <a:prstGeom prst="line">
            <a:avLst/>
          </a:prstGeom>
          <a:noFill/>
          <a:ln w="12700">
            <a:solidFill>
              <a:srgbClr val="D0D7E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91072" y="307238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5A6478"/>
                </a:solidFill>
              </a:rPr>
              <a:t>表：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6583680" y="3044952"/>
            <a:ext cx="2340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omniverse_sync_log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A2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trajectory_result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A2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alert_log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6291072" y="3502152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5A6478"/>
                </a:solidFill>
              </a:rPr>
              <a:t>UI：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6583680" y="3474720"/>
            <a:ext cx="234086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030"/>
                </a:solidFill>
              </a:rPr>
              <a:t>待處理警示 Drawer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A2030"/>
                </a:solidFill>
              </a:rPr>
              <a:t>acknowledge_alert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A2030"/>
                </a:solidFill>
              </a:rPr>
              <a:t>trigger_alert (多型引用)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C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6EF5"/>
          </a:solidFill>
          <a:ln w="12700">
            <a:solidFill>
              <a:srgbClr val="1A6E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9144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資料流整體回顧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8229600" cy="749808"/>
          </a:xfrm>
          <a:prstGeom prst="rect">
            <a:avLst/>
          </a:prstGeom>
          <a:solidFill>
            <a:srgbClr val="243560"/>
          </a:solidFill>
          <a:ln w="12700">
            <a:solidFill>
              <a:srgbClr val="1A6E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737360"/>
            <a:ext cx="54864" cy="749808"/>
          </a:xfrm>
          <a:prstGeom prst="rect">
            <a:avLst/>
          </a:prstGeom>
          <a:solidFill>
            <a:srgbClr val="1A6EF5"/>
          </a:solidFill>
          <a:ln w="12700">
            <a:solidFill>
              <a:srgbClr val="1A6E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79222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6EF5"/>
                </a:solidFill>
              </a:rPr>
              <a:t>Past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21792" y="2029968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8D8F8"/>
                </a:solidFill>
              </a:rPr>
              <a:t>import_runtime_json · import_threshold_csvs · import_inferred_ttl · insert_part_history · insert_qc_result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2578608"/>
            <a:ext cx="8229600" cy="749808"/>
          </a:xfrm>
          <a:prstGeom prst="rect">
            <a:avLst/>
          </a:prstGeom>
          <a:solidFill>
            <a:srgbClr val="243560"/>
          </a:solidFill>
          <a:ln w="12700">
            <a:solidFill>
              <a:srgbClr val="1A9E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578608"/>
            <a:ext cx="54864" cy="749808"/>
          </a:xfrm>
          <a:prstGeom prst="rect">
            <a:avLst/>
          </a:prstGeom>
          <a:solidFill>
            <a:srgbClr val="1A9E3A"/>
          </a:solidFill>
          <a:ln w="12700">
            <a:solidFill>
              <a:srgbClr val="1A9E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263347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9E3A"/>
                </a:solidFill>
              </a:rPr>
              <a:t>Current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21792" y="287121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8D8F8"/>
                </a:solidFill>
              </a:rPr>
              <a:t>get_station_dashboard_status · get_latest_runtime_window · get_latest_diagnosis · get_metric_trend · get_kpi_summary · get_quality_trend · get_yield_comparison · get_utilization_trend · get_cycle_time_trend · list_batches_filtered · list_pending_alerts · acknowledge_alert · trigger_alert · get_prediction_accuracy · get_station_risk_detail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57200" y="3419856"/>
            <a:ext cx="8229600" cy="749808"/>
          </a:xfrm>
          <a:prstGeom prst="rect">
            <a:avLst/>
          </a:prstGeom>
          <a:solidFill>
            <a:srgbClr val="243560"/>
          </a:solidFill>
          <a:ln w="12700">
            <a:solidFill>
              <a:srgbClr val="7C52D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419856"/>
            <a:ext cx="54864" cy="749808"/>
          </a:xfrm>
          <a:prstGeom prst="rect">
            <a:avLst/>
          </a:prstGeom>
          <a:solidFill>
            <a:srgbClr val="7C52D0"/>
          </a:solidFill>
          <a:ln w="12700">
            <a:solidFill>
              <a:srgbClr val="7C52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347472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52D0"/>
                </a:solidFill>
              </a:rPr>
              <a:t>Future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1792" y="3712464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8D8F8"/>
                </a:solidFill>
              </a:rPr>
              <a:t>get_ml_feature_input · get_latest_prediction · get_omniverse_validation_result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914400" y="440740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BA3C8"/>
                </a:solidFill>
              </a:rPr>
              <a:t>每個 UI 元件 = DB 查詢 → Service Function → REST API → 前端渲染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D1A30"/>
          </a:solidFill>
          <a:ln w="12700">
            <a:solidFill>
              <a:srgbClr val="0D1A3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96519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A6080"/>
                </a:solidFill>
              </a:rPr>
              <a:t>Dashboard v15 ／ DB Schema v2 ／ Backend 開發者文件 v2.0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775</TotalTime>
  <Words>2716</Words>
  <Application>Microsoft Office PowerPoint</Application>
  <PresentationFormat>如螢幕大小 (16:9)</PresentationFormat>
  <Paragraphs>608</Paragraphs>
  <Slides>16</Slides>
  <Notes>16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16</vt:i4>
      </vt:variant>
    </vt:vector>
  </HeadingPairs>
  <TitlesOfParts>
    <vt:vector size="19" baseType="lpstr">
      <vt:lpstr>Arial</vt:lpstr>
      <vt:lpstr>Consolas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SprayLine Dashboard — 元件與資料流程說明</dc:title>
  <dc:subject>PptxGenJS Presentation</dc:subject>
  <dc:creator>PptxGenJS</dc:creator>
  <cp:lastModifiedBy>cheng yu</cp:lastModifiedBy>
  <cp:revision>3</cp:revision>
  <dcterms:created xsi:type="dcterms:W3CDTF">2026-06-01T16:19:43Z</dcterms:created>
  <dcterms:modified xsi:type="dcterms:W3CDTF">2026-06-02T05:16:01Z</dcterms:modified>
</cp:coreProperties>
</file>